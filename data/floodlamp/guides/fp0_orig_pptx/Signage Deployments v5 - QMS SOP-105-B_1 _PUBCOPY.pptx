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10058400" cx="77724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Poppi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F6A8B0-2125-49B5-B149-7AFFC063E866}">
  <a:tblStyle styleId="{31F6A8B0-2125-49B5-B149-7AFFC063E86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11" Type="http://schemas.openxmlformats.org/officeDocument/2006/relationships/slide" Target="slides/slide5.xml"/><Relationship Id="rId22" Type="http://schemas.openxmlformats.org/officeDocument/2006/relationships/font" Target="fonts/Poppins-boldItalic.fntdata"/><Relationship Id="rId10" Type="http://schemas.openxmlformats.org/officeDocument/2006/relationships/slide" Target="slides/slide4.xml"/><Relationship Id="rId21" Type="http://schemas.openxmlformats.org/officeDocument/2006/relationships/font" Target="fonts/Poppi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regular.fntdata"/><Relationship Id="rId14" Type="http://schemas.openxmlformats.org/officeDocument/2006/relationships/slide" Target="slides/slide8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Poppins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cb099468ac_0_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cb099468a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f827a22a98_0_7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f827a22a9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f827a22a98_0_15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f827a22a9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f827a22a98_0_29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f827a22a9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f827a22a98_0_48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f827a22a9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f827a22a98_0_6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f827a22a9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f827a22a98_0_68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f827a22a98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-158700" y="1557400"/>
            <a:ext cx="7242600" cy="21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1) </a:t>
            </a:r>
            <a:r>
              <a:rPr b="1" lang="en" sz="6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Intake</a:t>
            </a:r>
            <a:endParaRPr b="1" sz="6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Sample Tubes</a:t>
            </a:r>
            <a:endParaRPr b="1" sz="6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5400000">
            <a:off x="141602" y="303550"/>
            <a:ext cx="1534875" cy="12881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538850" y="4917325"/>
            <a:ext cx="6687900" cy="3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Char char="●"/>
            </a:pPr>
            <a:r>
              <a:rPr b="1" lang="en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Clean tubes - spray wipe with ethanol/alcohol and wipe tubes</a:t>
            </a:r>
            <a:endParaRPr b="1"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Char char="●"/>
            </a:pPr>
            <a:r>
              <a:rPr b="1" lang="en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Intake with App (can also do during Amp heating)</a:t>
            </a:r>
            <a:endParaRPr b="1"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264150" y="4659400"/>
            <a:ext cx="731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298500" y="1252600"/>
            <a:ext cx="7242600" cy="21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2) Make 1X Inactivation</a:t>
            </a:r>
            <a:endParaRPr b="1" sz="6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Saline Solution</a:t>
            </a:r>
            <a:endParaRPr b="1" sz="6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5400000">
            <a:off x="141602" y="303550"/>
            <a:ext cx="1534875" cy="12881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538850" y="4917325"/>
            <a:ext cx="66879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Char char="●"/>
            </a:pPr>
            <a:r>
              <a:rPr b="1" lang="en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Add 100X Inactivation Solution to Saline</a:t>
            </a:r>
            <a:endParaRPr b="1"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5" name="Google Shape;65;p14"/>
          <p:cNvCxnSpPr/>
          <p:nvPr/>
        </p:nvCxnSpPr>
        <p:spPr>
          <a:xfrm>
            <a:off x="264150" y="4659400"/>
            <a:ext cx="731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66" name="Google Shape;66;p14"/>
          <p:cNvGraphicFramePr/>
          <p:nvPr/>
        </p:nvGraphicFramePr>
        <p:xfrm>
          <a:off x="729625" y="646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{31F6A8B0-2125-49B5-B149-7AFFC063E866}</a:tableStyleId>
              </a:tblPr>
              <a:tblGrid>
                <a:gridCol w="2009100"/>
                <a:gridCol w="2009100"/>
                <a:gridCol w="2009100"/>
              </a:tblGrid>
              <a:tr h="1089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/>
                        <a:t>Saline</a:t>
                      </a:r>
                      <a:endParaRPr b="1" sz="2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/>
                        <a:t>5 mL</a:t>
                      </a:r>
                      <a:endParaRPr b="1" sz="2100"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/>
                        <a:t>Saline</a:t>
                      </a:r>
                      <a:endParaRPr b="1" sz="2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/>
                        <a:t>15 mL</a:t>
                      </a:r>
                      <a:endParaRPr b="1" sz="2100"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/>
                        <a:t>Saline</a:t>
                      </a:r>
                      <a:endParaRPr b="1" sz="2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/>
                        <a:t>50 mL</a:t>
                      </a:r>
                      <a:endParaRPr b="1" sz="2100"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9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100">
                          <a:solidFill>
                            <a:schemeClr val="dk1"/>
                          </a:solidFill>
                        </a:rPr>
                        <a:t>100X IS</a:t>
                      </a:r>
                      <a:endParaRPr b="1" sz="2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100">
                          <a:solidFill>
                            <a:schemeClr val="dk1"/>
                          </a:solidFill>
                        </a:rPr>
                        <a:t>50 μL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>
                          <a:solidFill>
                            <a:schemeClr val="dk1"/>
                          </a:solidFill>
                        </a:rPr>
                        <a:t>100X IS</a:t>
                      </a:r>
                      <a:endParaRPr b="1" sz="2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>
                          <a:solidFill>
                            <a:schemeClr val="dk1"/>
                          </a:solidFill>
                        </a:rPr>
                        <a:t>150 μL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>
                          <a:solidFill>
                            <a:schemeClr val="dk1"/>
                          </a:solidFill>
                        </a:rPr>
                        <a:t>100X IS</a:t>
                      </a:r>
                      <a:endParaRPr b="1" sz="2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>
                          <a:solidFill>
                            <a:schemeClr val="dk1"/>
                          </a:solidFill>
                        </a:rPr>
                        <a:t>500 μL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298500" y="643000"/>
            <a:ext cx="7242600" cy="21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b="1" lang="en" sz="6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 Add 1X </a:t>
            </a:r>
            <a:r>
              <a:rPr b="1" lang="en" sz="6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Inactivation</a:t>
            </a:r>
            <a:endParaRPr b="1" sz="6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Saline Solution to Sample Tubes</a:t>
            </a:r>
            <a:endParaRPr b="1" sz="6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5400000">
            <a:off x="141602" y="303550"/>
            <a:ext cx="1534875" cy="128817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>
            <p:ph idx="1" type="subTitle"/>
          </p:nvPr>
        </p:nvSpPr>
        <p:spPr>
          <a:xfrm>
            <a:off x="538850" y="4917325"/>
            <a:ext cx="66879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Char char="●"/>
            </a:pPr>
            <a:r>
              <a:rPr b="1" lang="en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Add 1mL of inactivation saline solution (1XISS) to each sample tube</a:t>
            </a:r>
            <a:endParaRPr b="1"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572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3600"/>
              <a:buFont typeface="Poppins"/>
              <a:buChar char="●"/>
            </a:pPr>
            <a:r>
              <a:rPr b="1" lang="en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One sample tube open at a time</a:t>
            </a:r>
            <a:endParaRPr b="1"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74" name="Google Shape;74;p15"/>
          <p:cNvCxnSpPr/>
          <p:nvPr/>
        </p:nvCxnSpPr>
        <p:spPr>
          <a:xfrm>
            <a:off x="264150" y="4659400"/>
            <a:ext cx="731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298500" y="1328800"/>
            <a:ext cx="7242600" cy="21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b="1" lang="en" sz="6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 Heat to Inactivate Samples</a:t>
            </a:r>
            <a:endParaRPr b="1" sz="6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5400000">
            <a:off x="141602" y="303550"/>
            <a:ext cx="1534875" cy="12881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>
            <p:ph idx="1" type="subTitle"/>
          </p:nvPr>
        </p:nvSpPr>
        <p:spPr>
          <a:xfrm>
            <a:off x="538850" y="4917325"/>
            <a:ext cx="7087200" cy="48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Char char="●"/>
            </a:pPr>
            <a:r>
              <a:rPr b="1" lang="en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Water Bath (set at 99°C)</a:t>
            </a:r>
            <a:endParaRPr b="1"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Heat 8 mintues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Cool 10 minutes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Char char="●"/>
            </a:pPr>
            <a:r>
              <a:rPr b="1" lang="en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Dry Heat Block for 1.5mL sample tubes (set at </a:t>
            </a:r>
            <a:r>
              <a:rPr b="1" lang="en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95°C)</a:t>
            </a:r>
            <a:endParaRPr b="1"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Heat 5 mintues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Cool 5 minutes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3716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82" name="Google Shape;82;p16"/>
          <p:cNvCxnSpPr/>
          <p:nvPr/>
        </p:nvCxnSpPr>
        <p:spPr>
          <a:xfrm>
            <a:off x="264150" y="4659400"/>
            <a:ext cx="731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idx="1" type="subTitle"/>
          </p:nvPr>
        </p:nvSpPr>
        <p:spPr>
          <a:xfrm>
            <a:off x="264900" y="1442650"/>
            <a:ext cx="7242600" cy="21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r>
              <a:rPr b="1" lang="en" sz="6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 Make</a:t>
            </a:r>
            <a:endParaRPr b="1" sz="6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Reaction Mix</a:t>
            </a:r>
            <a:endParaRPr b="1" sz="6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5400000">
            <a:off x="141602" y="303550"/>
            <a:ext cx="1534875" cy="12881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>
            <p:ph idx="1" type="subTitle"/>
          </p:nvPr>
        </p:nvSpPr>
        <p:spPr>
          <a:xfrm>
            <a:off x="542250" y="4276825"/>
            <a:ext cx="7083000" cy="13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Char char="●"/>
            </a:pPr>
            <a:r>
              <a:rPr b="1" lang="en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Add CLAMP MM </a:t>
            </a:r>
            <a:r>
              <a:rPr b="1" lang="en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and Primer Soln (PGS) to 1.5mL tube</a:t>
            </a:r>
            <a:endParaRPr b="1"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Char char="●"/>
            </a:pPr>
            <a:r>
              <a:rPr b="1" lang="en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Aliquot into Strip8 tubes or 96 well PCR Plate</a:t>
            </a:r>
            <a:endParaRPr b="1"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90" name="Google Shape;90;p17"/>
          <p:cNvCxnSpPr/>
          <p:nvPr/>
        </p:nvCxnSpPr>
        <p:spPr>
          <a:xfrm>
            <a:off x="227150" y="4123125"/>
            <a:ext cx="731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91" name="Google Shape;91;p17"/>
          <p:cNvGraphicFramePr/>
          <p:nvPr/>
        </p:nvGraphicFramePr>
        <p:xfrm>
          <a:off x="1844800" y="69358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{31F6A8B0-2125-49B5-B149-7AFFC063E866}</a:tableStyleId>
              </a:tblPr>
              <a:tblGrid>
                <a:gridCol w="1406250"/>
                <a:gridCol w="1406250"/>
                <a:gridCol w="1406250"/>
                <a:gridCol w="1406250"/>
              </a:tblGrid>
              <a:tr h="45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8 Rxns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16 Rxns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24 Rxns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48 Rxns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9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PGS</a:t>
                      </a:r>
                      <a:endParaRPr b="1" sz="1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92 </a:t>
                      </a:r>
                      <a:r>
                        <a:rPr b="1" lang="en" sz="1800">
                          <a:solidFill>
                            <a:schemeClr val="dk1"/>
                          </a:solidFill>
                        </a:rPr>
                        <a:t>μL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</a:rPr>
                        <a:t>PGS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</a:rPr>
                        <a:t>183 μL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</a:rPr>
                        <a:t>PGS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</a:rPr>
                        <a:t>275 μL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</a:rPr>
                        <a:t>PGS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</a:rPr>
                        <a:t>550 μL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</a:rPr>
                        <a:t>CLAMP MM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</a:rPr>
                        <a:t>109</a:t>
                      </a:r>
                      <a:r>
                        <a:rPr b="1" lang="en" sz="1800">
                          <a:solidFill>
                            <a:schemeClr val="dk1"/>
                          </a:solidFill>
                        </a:rPr>
                        <a:t> μL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</a:rPr>
                        <a:t>CLAMP MM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</a:rPr>
                        <a:t>218 μL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</a:rPr>
                        <a:t>CLAMP MM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</a:rPr>
                        <a:t>328 μL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</a:rPr>
                        <a:t>CLAMP MM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</a:rPr>
                        <a:t>655 μL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2" name="Google Shape;92;p17"/>
          <p:cNvSpPr/>
          <p:nvPr/>
        </p:nvSpPr>
        <p:spPr>
          <a:xfrm rot="10800000">
            <a:off x="1375850" y="7657525"/>
            <a:ext cx="420600" cy="1627200"/>
          </a:xfrm>
          <a:prstGeom prst="rightBrace">
            <a:avLst>
              <a:gd fmla="val 50000" name="adj1"/>
              <a:gd fmla="val 48248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3" name="Google Shape;93;p17"/>
          <p:cNvSpPr txBox="1"/>
          <p:nvPr/>
        </p:nvSpPr>
        <p:spPr>
          <a:xfrm>
            <a:off x="-8393" y="8033425"/>
            <a:ext cx="1567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Roboto"/>
                <a:ea typeface="Roboto"/>
                <a:cs typeface="Roboto"/>
                <a:sym typeface="Roboto"/>
              </a:rPr>
              <a:t>Combine in New 1.5mL</a:t>
            </a:r>
            <a:endParaRPr b="1"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Roboto"/>
                <a:ea typeface="Roboto"/>
                <a:cs typeface="Roboto"/>
                <a:sym typeface="Roboto"/>
              </a:rPr>
              <a:t>Tube</a:t>
            </a:r>
            <a:endParaRPr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idx="1" type="subTitle"/>
          </p:nvPr>
        </p:nvSpPr>
        <p:spPr>
          <a:xfrm>
            <a:off x="264900" y="1648125"/>
            <a:ext cx="7242600" cy="21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b="1" lang="en" sz="6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 Add Sample</a:t>
            </a:r>
            <a:endParaRPr b="1" sz="6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 Reaction</a:t>
            </a:r>
            <a:endParaRPr b="1" sz="6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5400000">
            <a:off x="141602" y="303550"/>
            <a:ext cx="1534875" cy="128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>
            <p:ph idx="1" type="subTitle"/>
          </p:nvPr>
        </p:nvSpPr>
        <p:spPr>
          <a:xfrm>
            <a:off x="538850" y="4917325"/>
            <a:ext cx="6687900" cy="13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Char char="●"/>
            </a:pPr>
            <a:r>
              <a:rPr b="1" lang="en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Add 2μL from each sample tube to corresponding well</a:t>
            </a:r>
            <a:endParaRPr b="1"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Char char="●"/>
            </a:pPr>
            <a:r>
              <a:rPr b="1" lang="en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Aliquot into Strip8 tubes or 96 well PCR Plate</a:t>
            </a:r>
            <a:endParaRPr b="1"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01" name="Google Shape;101;p18"/>
          <p:cNvCxnSpPr/>
          <p:nvPr/>
        </p:nvCxnSpPr>
        <p:spPr>
          <a:xfrm>
            <a:off x="264150" y="4659400"/>
            <a:ext cx="731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idx="1" type="subTitle"/>
          </p:nvPr>
        </p:nvSpPr>
        <p:spPr>
          <a:xfrm>
            <a:off x="264900" y="1648125"/>
            <a:ext cx="7242600" cy="21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r>
              <a:rPr b="1" lang="en" sz="6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 Heat Amp Reactions</a:t>
            </a:r>
            <a:endParaRPr b="1" sz="6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5400000">
            <a:off x="141602" y="303550"/>
            <a:ext cx="1534875" cy="128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>
            <p:ph idx="1" type="subTitle"/>
          </p:nvPr>
        </p:nvSpPr>
        <p:spPr>
          <a:xfrm>
            <a:off x="538850" y="4917325"/>
            <a:ext cx="6687900" cy="13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Char char="●"/>
            </a:pPr>
            <a:r>
              <a:rPr b="1" lang="en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Heat at </a:t>
            </a:r>
            <a:r>
              <a:rPr b="1" lang="en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65ºC for 25 min</a:t>
            </a:r>
            <a:endParaRPr b="1"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Char char="●"/>
            </a:pPr>
            <a:r>
              <a:rPr b="1" lang="en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Set personal timer (on phone) for 24 min</a:t>
            </a:r>
            <a:endParaRPr b="1"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09" name="Google Shape;109;p19"/>
          <p:cNvCxnSpPr/>
          <p:nvPr/>
        </p:nvCxnSpPr>
        <p:spPr>
          <a:xfrm>
            <a:off x="264150" y="4659400"/>
            <a:ext cx="731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idx="1" type="subTitle"/>
          </p:nvPr>
        </p:nvSpPr>
        <p:spPr>
          <a:xfrm>
            <a:off x="264900" y="1648125"/>
            <a:ext cx="7242600" cy="21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r>
              <a:rPr b="1" lang="en" sz="6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 Log and</a:t>
            </a:r>
            <a:endParaRPr b="1" sz="6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Report Results</a:t>
            </a:r>
            <a:endParaRPr b="1" sz="6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5400000">
            <a:off x="141602" y="303550"/>
            <a:ext cx="1534875" cy="128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>
            <p:ph idx="1" type="subTitle"/>
          </p:nvPr>
        </p:nvSpPr>
        <p:spPr>
          <a:xfrm>
            <a:off x="538850" y="4917325"/>
            <a:ext cx="6687900" cy="13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Char char="●"/>
            </a:pPr>
            <a:r>
              <a:rPr b="1" lang="en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Let samples cool for at least 1 minute before taking photo</a:t>
            </a:r>
            <a:endParaRPr b="1"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Char char="●"/>
            </a:pPr>
            <a:r>
              <a:rPr b="1" lang="en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Crop and apply vivid filter</a:t>
            </a:r>
            <a:endParaRPr b="1"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Char char="●"/>
            </a:pPr>
            <a:r>
              <a:rPr b="1" lang="en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Log Amp Run Form with QR code link</a:t>
            </a:r>
            <a:endParaRPr b="1"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17" name="Google Shape;117;p20"/>
          <p:cNvCxnSpPr/>
          <p:nvPr/>
        </p:nvCxnSpPr>
        <p:spPr>
          <a:xfrm>
            <a:off x="264150" y="4659400"/>
            <a:ext cx="731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