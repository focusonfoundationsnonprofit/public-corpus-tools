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7772400" cx="100584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Poppi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81">
          <p15:clr>
            <a:srgbClr val="A4A3A4"/>
          </p15:clr>
        </p15:guide>
        <p15:guide id="2" pos="6221">
          <p15:clr>
            <a:srgbClr val="A4A3A4"/>
          </p15:clr>
        </p15:guide>
        <p15:guide id="3" pos="115">
          <p15:clr>
            <a:srgbClr val="9AA0A6"/>
          </p15:clr>
        </p15:guide>
        <p15:guide id="4" orient="horz" pos="11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96AF51-DADE-471F-8CA9-AD1DC86A8AC0}">
  <a:tblStyle styleId="{5796AF51-DADE-471F-8CA9-AD1DC86A8A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81" orient="horz"/>
        <p:guide pos="6221"/>
        <p:guide pos="115"/>
        <p:guide pos="11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Poppins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regular.fntdata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6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cdaf2435a9_1_341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cdaf2435a9_1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ecc76152f_0_1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eecc76152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539275" y="680227"/>
            <a:ext cx="7004400" cy="61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5433450" y="1094158"/>
            <a:ext cx="42210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42870" y="1671478"/>
            <a:ext cx="9372900" cy="29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6897673" y="1766993"/>
            <a:ext cx="1365214" cy="1364832"/>
            <a:chOff x="3379091" y="1457381"/>
            <a:chExt cx="1365214" cy="1364832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53" name="Google Shape;53;p13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54" name="Google Shape;54;p13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" name="Google Shape;55;p13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56" name="Google Shape;56;p13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" name="Google Shape;57;p13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8" name="Google Shape;58;p13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9" name="Google Shape;59;p13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13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" name="Google Shape;61;p13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" name="Google Shape;62;p13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13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" name="Google Shape;64;p13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5" name="Google Shape;65;p13"/>
          <p:cNvSpPr txBox="1"/>
          <p:nvPr/>
        </p:nvSpPr>
        <p:spPr>
          <a:xfrm>
            <a:off x="1509600" y="82525"/>
            <a:ext cx="703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QuickColor</a:t>
            </a:r>
            <a:r>
              <a:rPr b="1" baseline="30000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TM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COVID-19 Test Flow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94432" y="1239850"/>
            <a:ext cx="156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Saline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594432" y="2377500"/>
            <a:ext cx="1567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100X Inactiv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935988" y="1337620"/>
            <a:ext cx="420600" cy="23055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3"/>
          <p:cNvSpPr txBox="1"/>
          <p:nvPr/>
        </p:nvSpPr>
        <p:spPr>
          <a:xfrm>
            <a:off x="594432" y="4211650"/>
            <a:ext cx="156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Primer Solution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18932" y="5730300"/>
            <a:ext cx="1943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LAMP Master Mix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1935988" y="4309420"/>
            <a:ext cx="420600" cy="23055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3"/>
          <p:cNvSpPr txBox="1"/>
          <p:nvPr/>
        </p:nvSpPr>
        <p:spPr>
          <a:xfrm>
            <a:off x="2280400" y="1853742"/>
            <a:ext cx="2347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INACTIVATION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2463579" y="4794627"/>
            <a:ext cx="1667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2)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REACTION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MIX</a:t>
            </a:r>
            <a:endParaRPr b="1"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4" name="Google Shape;74;p13"/>
          <p:cNvGrpSpPr/>
          <p:nvPr/>
        </p:nvGrpSpPr>
        <p:grpSpPr>
          <a:xfrm>
            <a:off x="5304900" y="1766993"/>
            <a:ext cx="1365214" cy="1364832"/>
            <a:chOff x="1057175" y="2464200"/>
            <a:chExt cx="1819800" cy="1819776"/>
          </a:xfrm>
        </p:grpSpPr>
        <p:grpSp>
          <p:nvGrpSpPr>
            <p:cNvPr id="75" name="Google Shape;75;p13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76" name="Google Shape;76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3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78" name="Google Shape;78;p13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" name="Google Shape;79;p13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0" name="Google Shape;80;p13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" name="Google Shape;81;p13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" name="Google Shape;82;p13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" name="Google Shape;83;p13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4" name="Google Shape;84;p13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" name="Google Shape;85;p13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3"/>
          <p:cNvSpPr txBox="1"/>
          <p:nvPr/>
        </p:nvSpPr>
        <p:spPr>
          <a:xfrm>
            <a:off x="5244932" y="870887"/>
            <a:ext cx="1405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Pooled Dry Swab Samples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6507" y="2060925"/>
            <a:ext cx="641186" cy="7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034098" y="888100"/>
            <a:ext cx="171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Heat 95°C 5mL: 8 min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1.5mL: 5 min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645232" y="2213325"/>
            <a:ext cx="9363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6321632" y="2213325"/>
            <a:ext cx="7887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 rot="5400000">
            <a:off x="6668500" y="3717725"/>
            <a:ext cx="17259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223407" y="5185125"/>
            <a:ext cx="21186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8808" y="5135050"/>
            <a:ext cx="1405800" cy="9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712583" y="6072450"/>
            <a:ext cx="239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Samples added to Reaction Mix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7659" y="5060476"/>
            <a:ext cx="1527248" cy="110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3843" y="5155862"/>
            <a:ext cx="641186" cy="7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8469933" y="4135443"/>
            <a:ext cx="1365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Heat 65°C for 25 min</a:t>
            </a:r>
            <a:endParaRPr i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7734325" y="2992450"/>
            <a:ext cx="176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Let Cool</a:t>
            </a:r>
            <a:r>
              <a:rPr lang="en" sz="2000"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5mL: 10 min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1.5mL: 5 min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4"/>
          <p:cNvGrpSpPr/>
          <p:nvPr/>
        </p:nvGrpSpPr>
        <p:grpSpPr>
          <a:xfrm>
            <a:off x="2751021" y="5353481"/>
            <a:ext cx="1365214" cy="1364832"/>
            <a:chOff x="3379091" y="1457381"/>
            <a:chExt cx="1365214" cy="1364832"/>
          </a:xfrm>
        </p:grpSpPr>
        <p:grpSp>
          <p:nvGrpSpPr>
            <p:cNvPr id="104" name="Google Shape;104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05" name="Google Shape;105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06" name="Google Shape;106;p14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7" name="Google Shape;107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08" name="Google Shape;108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" name="Google Shape;109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" name="Google Shape;110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2" name="Google Shape;112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" name="Google Shape;113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4" name="Google Shape;114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" name="Google Shape;116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17" name="Google Shape;117;p14"/>
          <p:cNvGrpSpPr/>
          <p:nvPr/>
        </p:nvGrpSpPr>
        <p:grpSpPr>
          <a:xfrm>
            <a:off x="6013666" y="5473363"/>
            <a:ext cx="1365214" cy="1364832"/>
            <a:chOff x="3379091" y="1457381"/>
            <a:chExt cx="1365214" cy="1364832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19" name="Google Shape;119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20" name="Google Shape;120;p14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1" name="Google Shape;121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22" name="Google Shape;122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" name="Google Shape;123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4" name="Google Shape;124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" name="Google Shape;125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" name="Google Shape;126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7" name="Google Shape;127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8" name="Google Shape;128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9" name="Google Shape;129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" name="Google Shape;130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31" name="Google Shape;131;p14"/>
          <p:cNvSpPr/>
          <p:nvPr/>
        </p:nvSpPr>
        <p:spPr>
          <a:xfrm>
            <a:off x="150750" y="689400"/>
            <a:ext cx="2837700" cy="524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3174925" y="689400"/>
            <a:ext cx="3905700" cy="204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4"/>
          <p:cNvGrpSpPr/>
          <p:nvPr/>
        </p:nvGrpSpPr>
        <p:grpSpPr>
          <a:xfrm>
            <a:off x="4382341" y="5484631"/>
            <a:ext cx="1365214" cy="1364832"/>
            <a:chOff x="3379091" y="1457381"/>
            <a:chExt cx="1365214" cy="1364832"/>
          </a:xfrm>
        </p:grpSpPr>
        <p:grpSp>
          <p:nvGrpSpPr>
            <p:cNvPr id="134" name="Google Shape;134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35" name="Google Shape;135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36" name="Google Shape;136;p14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7" name="Google Shape;137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38" name="Google Shape;138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" name="Google Shape;139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" name="Google Shape;140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" name="Google Shape;141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2" name="Google Shape;142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" name="Google Shape;143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4" name="Google Shape;144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5" name="Google Shape;145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" name="Google Shape;146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147" name="Google Shape;14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8025" y="1034093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 rot="2627">
            <a:off x="240031" y="1911113"/>
            <a:ext cx="117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300"/>
          </a:p>
        </p:txBody>
      </p:sp>
      <p:sp>
        <p:nvSpPr>
          <p:cNvPr id="149" name="Google Shape;149;p14"/>
          <p:cNvSpPr txBox="1"/>
          <p:nvPr/>
        </p:nvSpPr>
        <p:spPr>
          <a:xfrm>
            <a:off x="1744025" y="2095950"/>
            <a:ext cx="115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.9% Saline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 </a:t>
            </a: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50 mL</a:t>
            </a:r>
            <a:endParaRPr sz="1300"/>
          </a:p>
        </p:txBody>
      </p:sp>
      <p:grpSp>
        <p:nvGrpSpPr>
          <p:cNvPr id="150" name="Google Shape;150;p14"/>
          <p:cNvGrpSpPr/>
          <p:nvPr/>
        </p:nvGrpSpPr>
        <p:grpSpPr>
          <a:xfrm>
            <a:off x="3626891" y="3244856"/>
            <a:ext cx="1365214" cy="1364832"/>
            <a:chOff x="1057175" y="2464200"/>
            <a:chExt cx="1819800" cy="1819776"/>
          </a:xfrm>
        </p:grpSpPr>
        <p:grpSp>
          <p:nvGrpSpPr>
            <p:cNvPr id="151" name="Google Shape;151;p14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152" name="Google Shape;152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14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4" name="Google Shape;154;p14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" name="Google Shape;155;p14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" name="Google Shape;156;p14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" name="Google Shape;157;p14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8" name="Google Shape;158;p14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14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0" name="Google Shape;160;p14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1" name="Google Shape;161;p14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14"/>
          <p:cNvSpPr txBox="1"/>
          <p:nvPr/>
        </p:nvSpPr>
        <p:spPr>
          <a:xfrm>
            <a:off x="3566923" y="4406150"/>
            <a:ext cx="140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Pooled Dry Swab Samples</a:t>
            </a:r>
            <a:endParaRPr sz="1300"/>
          </a:p>
        </p:txBody>
      </p:sp>
      <p:sp>
        <p:nvSpPr>
          <p:cNvPr id="163" name="Google Shape;163;p14"/>
          <p:cNvSpPr txBox="1"/>
          <p:nvPr/>
        </p:nvSpPr>
        <p:spPr>
          <a:xfrm>
            <a:off x="2812047" y="6460149"/>
            <a:ext cx="117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Eluted Sample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1,000 µL</a:t>
            </a:r>
            <a:endParaRPr i="1" sz="1300"/>
          </a:p>
        </p:txBody>
      </p:sp>
      <p:sp>
        <p:nvSpPr>
          <p:cNvPr id="164" name="Google Shape;164;p14"/>
          <p:cNvSpPr/>
          <p:nvPr/>
        </p:nvSpPr>
        <p:spPr>
          <a:xfrm>
            <a:off x="82962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3380575" y="10341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 Solution (PGS)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highlight>
                <a:srgbClr val="FFFFFF"/>
              </a:highlight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3202675" y="17879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</p:txBody>
      </p:sp>
      <p:sp>
        <p:nvSpPr>
          <p:cNvPr id="167" name="Google Shape;167;p14"/>
          <p:cNvSpPr txBox="1"/>
          <p:nvPr/>
        </p:nvSpPr>
        <p:spPr>
          <a:xfrm>
            <a:off x="5910535" y="1732927"/>
            <a:ext cx="12105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68" name="Google Shape;168;p14"/>
          <p:cNvSpPr txBox="1"/>
          <p:nvPr/>
        </p:nvSpPr>
        <p:spPr>
          <a:xfrm rot="-1451">
            <a:off x="7686153" y="4829121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pic>
        <p:nvPicPr>
          <p:cNvPr id="169" name="Google Shape;1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5700" y="5541508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3861184" y="6245601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95°C for 8min</a:t>
            </a:r>
            <a:endParaRPr i="1" sz="1300"/>
          </a:p>
        </p:txBody>
      </p:sp>
      <p:sp>
        <p:nvSpPr>
          <p:cNvPr id="171" name="Google Shape;171;p14"/>
          <p:cNvSpPr txBox="1"/>
          <p:nvPr/>
        </p:nvSpPr>
        <p:spPr>
          <a:xfrm>
            <a:off x="1055100" y="79528"/>
            <a:ext cx="794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QuickColor</a:t>
            </a:r>
            <a:r>
              <a:rPr b="1" baseline="30000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TM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COVID-19 Test Diagram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 rot="-1589">
            <a:off x="5436062" y="4048136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173" name="Google Shape;173;p14"/>
          <p:cNvSpPr txBox="1"/>
          <p:nvPr/>
        </p:nvSpPr>
        <p:spPr>
          <a:xfrm>
            <a:off x="3202675" y="23975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8 reactions*</a:t>
            </a:r>
            <a:endParaRPr b="1" sz="1200"/>
          </a:p>
        </p:txBody>
      </p:sp>
      <p:sp>
        <p:nvSpPr>
          <p:cNvPr id="174" name="Google Shape;174;p14"/>
          <p:cNvSpPr txBox="1"/>
          <p:nvPr/>
        </p:nvSpPr>
        <p:spPr>
          <a:xfrm>
            <a:off x="5699256" y="733288"/>
            <a:ext cx="1503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1.5 mL Tube</a:t>
            </a:r>
            <a:endParaRPr b="1" sz="1200"/>
          </a:p>
        </p:txBody>
      </p:sp>
      <p:grpSp>
        <p:nvGrpSpPr>
          <p:cNvPr id="175" name="Google Shape;175;p14"/>
          <p:cNvGrpSpPr/>
          <p:nvPr/>
        </p:nvGrpSpPr>
        <p:grpSpPr>
          <a:xfrm>
            <a:off x="2121555" y="1188253"/>
            <a:ext cx="578162" cy="828679"/>
            <a:chOff x="2011212" y="5790942"/>
            <a:chExt cx="753600" cy="1080134"/>
          </a:xfrm>
        </p:grpSpPr>
        <p:pic>
          <p:nvPicPr>
            <p:cNvPr id="176" name="Google Shape;176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4"/>
            <p:cNvSpPr txBox="1"/>
            <p:nvPr/>
          </p:nvSpPr>
          <p:spPr>
            <a:xfrm>
              <a:off x="2011212" y="5790942"/>
              <a:ext cx="753600" cy="5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pic>
        <p:nvPicPr>
          <p:cNvPr id="178" name="Google Shape;1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053" y="1139956"/>
            <a:ext cx="320875" cy="760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/>
          <p:nvPr/>
        </p:nvSpPr>
        <p:spPr>
          <a:xfrm rot="5400000">
            <a:off x="1404180" y="1985638"/>
            <a:ext cx="420600" cy="23055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0" name="Google Shape;180;p14"/>
          <p:cNvSpPr txBox="1"/>
          <p:nvPr/>
        </p:nvSpPr>
        <p:spPr>
          <a:xfrm>
            <a:off x="551588" y="4490800"/>
            <a:ext cx="2305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1X Inactivation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Saline Solution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~50 m</a:t>
            </a: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L</a:t>
            </a:r>
            <a:endParaRPr i="1" sz="1200"/>
          </a:p>
        </p:txBody>
      </p:sp>
      <p:grpSp>
        <p:nvGrpSpPr>
          <p:cNvPr id="181" name="Google Shape;181;p14"/>
          <p:cNvGrpSpPr/>
          <p:nvPr/>
        </p:nvGrpSpPr>
        <p:grpSpPr>
          <a:xfrm>
            <a:off x="1415255" y="3566128"/>
            <a:ext cx="578162" cy="828679"/>
            <a:chOff x="2011212" y="5790942"/>
            <a:chExt cx="753600" cy="1080134"/>
          </a:xfrm>
        </p:grpSpPr>
        <p:pic>
          <p:nvPicPr>
            <p:cNvPr id="182" name="Google Shape;18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14"/>
            <p:cNvSpPr txBox="1"/>
            <p:nvPr/>
          </p:nvSpPr>
          <p:spPr>
            <a:xfrm>
              <a:off x="2011212" y="5790942"/>
              <a:ext cx="753600" cy="5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/>
            </a:p>
          </p:txBody>
        </p:sp>
      </p:grpSp>
      <p:sp>
        <p:nvSpPr>
          <p:cNvPr id="184" name="Google Shape;184;p14"/>
          <p:cNvSpPr/>
          <p:nvPr/>
        </p:nvSpPr>
        <p:spPr>
          <a:xfrm rot="1989216">
            <a:off x="1259008" y="1082698"/>
            <a:ext cx="710935" cy="554003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 rot="1989216">
            <a:off x="3184058" y="3570986"/>
            <a:ext cx="710935" cy="554003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 rot="2901">
            <a:off x="1281536" y="1509749"/>
            <a:ext cx="7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500 µL</a:t>
            </a:r>
            <a:endParaRPr i="1" sz="1300"/>
          </a:p>
        </p:txBody>
      </p:sp>
      <p:sp>
        <p:nvSpPr>
          <p:cNvPr id="187" name="Google Shape;187;p14"/>
          <p:cNvSpPr txBox="1"/>
          <p:nvPr/>
        </p:nvSpPr>
        <p:spPr>
          <a:xfrm rot="3344">
            <a:off x="3076925" y="4039588"/>
            <a:ext cx="9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1,000 µL</a:t>
            </a:r>
            <a:endParaRPr i="1" sz="1300"/>
          </a:p>
        </p:txBody>
      </p:sp>
      <p:sp>
        <p:nvSpPr>
          <p:cNvPr id="188" name="Google Shape;188;p14"/>
          <p:cNvSpPr/>
          <p:nvPr/>
        </p:nvSpPr>
        <p:spPr>
          <a:xfrm rot="5400000">
            <a:off x="2654797" y="3446175"/>
            <a:ext cx="420600" cy="3760500"/>
          </a:xfrm>
          <a:prstGeom prst="rightBrace">
            <a:avLst>
              <a:gd fmla="val 50000" name="adj1"/>
              <a:gd fmla="val 3598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9" name="Google Shape;189;p14"/>
          <p:cNvSpPr/>
          <p:nvPr/>
        </p:nvSpPr>
        <p:spPr>
          <a:xfrm rot="1989216">
            <a:off x="5328233" y="1036023"/>
            <a:ext cx="710935" cy="554003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 rot="2901">
            <a:off x="5387000" y="1403133"/>
            <a:ext cx="7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92 µL*</a:t>
            </a:r>
            <a:endParaRPr i="1" sz="1300"/>
          </a:p>
        </p:txBody>
      </p:sp>
      <p:sp>
        <p:nvSpPr>
          <p:cNvPr id="191" name="Google Shape;191;p14"/>
          <p:cNvSpPr/>
          <p:nvPr/>
        </p:nvSpPr>
        <p:spPr>
          <a:xfrm flipH="1" rot="7347382">
            <a:off x="5455965" y="1782211"/>
            <a:ext cx="711069" cy="553940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 rot="2901">
            <a:off x="5456000" y="2240619"/>
            <a:ext cx="71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highlight>
                  <a:schemeClr val="lt1"/>
                </a:highlight>
              </a:rPr>
              <a:t>110 µL*</a:t>
            </a:r>
            <a:endParaRPr i="1" sz="1300"/>
          </a:p>
        </p:txBody>
      </p:sp>
      <p:pic>
        <p:nvPicPr>
          <p:cNvPr id="193" name="Google Shape;19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05024" y="1036024"/>
            <a:ext cx="274400" cy="64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9">
            <a:alphaModFix/>
          </a:blip>
          <a:srcRect b="0" l="29963" r="34949" t="0"/>
          <a:stretch/>
        </p:blipFill>
        <p:spPr>
          <a:xfrm>
            <a:off x="4792450" y="1811425"/>
            <a:ext cx="491199" cy="7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/>
          <p:nvPr/>
        </p:nvSpPr>
        <p:spPr>
          <a:xfrm>
            <a:off x="5241250" y="6225472"/>
            <a:ext cx="1177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Cool at Room Temp for 10min</a:t>
            </a:r>
            <a:endParaRPr i="1" sz="1300"/>
          </a:p>
        </p:txBody>
      </p:sp>
      <p:pic>
        <p:nvPicPr>
          <p:cNvPr id="196" name="Google Shape;19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83925" y="3421675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/>
          <p:nvPr/>
        </p:nvSpPr>
        <p:spPr>
          <a:xfrm>
            <a:off x="3921125" y="6012200"/>
            <a:ext cx="711000" cy="28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5564288" y="6025000"/>
            <a:ext cx="711000" cy="28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 rot="5401087">
            <a:off x="6189925" y="1988150"/>
            <a:ext cx="1898400" cy="615000"/>
          </a:xfrm>
          <a:prstGeom prst="bentArrow">
            <a:avLst>
              <a:gd fmla="val 25000" name="adj1"/>
              <a:gd fmla="val 21525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 rot="-794">
            <a:off x="7354650" y="2052313"/>
            <a:ext cx="129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+ 23 µL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per tube</a:t>
            </a:r>
            <a:endParaRPr sz="1200"/>
          </a:p>
        </p:txBody>
      </p:sp>
      <p:pic>
        <p:nvPicPr>
          <p:cNvPr id="201" name="Google Shape;20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5160" y="3016133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4"/>
          <p:cNvSpPr txBox="1"/>
          <p:nvPr/>
        </p:nvSpPr>
        <p:spPr>
          <a:xfrm>
            <a:off x="8030643" y="3720226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65°C for 25min</a:t>
            </a:r>
            <a:endParaRPr i="1" sz="1300"/>
          </a:p>
        </p:txBody>
      </p:sp>
      <p:sp>
        <p:nvSpPr>
          <p:cNvPr id="203" name="Google Shape;203;p14"/>
          <p:cNvSpPr/>
          <p:nvPr/>
        </p:nvSpPr>
        <p:spPr>
          <a:xfrm>
            <a:off x="8090585" y="3486825"/>
            <a:ext cx="711000" cy="28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 rot="-1961">
            <a:off x="8915352" y="4039594"/>
            <a:ext cx="10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RESULTS!</a:t>
            </a:r>
            <a:endParaRPr sz="1200"/>
          </a:p>
        </p:txBody>
      </p:sp>
      <p:sp>
        <p:nvSpPr>
          <p:cNvPr id="205" name="Google Shape;205;p14"/>
          <p:cNvSpPr/>
          <p:nvPr/>
        </p:nvSpPr>
        <p:spPr>
          <a:xfrm>
            <a:off x="8975300" y="3244850"/>
            <a:ext cx="711000" cy="647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 flipH="1" rot="5398298">
            <a:off x="6508024" y="3828754"/>
            <a:ext cx="606000" cy="615000"/>
          </a:xfrm>
          <a:prstGeom prst="bentArrow">
            <a:avLst>
              <a:gd fmla="val 25000" name="adj1"/>
              <a:gd fmla="val 25000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50750" y="703125"/>
            <a:ext cx="2800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00FFFF"/>
                </a:highlight>
              </a:rPr>
              <a:t>1X </a:t>
            </a:r>
            <a:r>
              <a:rPr b="1" lang="en">
                <a:highlight>
                  <a:srgbClr val="00FFFF"/>
                </a:highlight>
              </a:rPr>
              <a:t>Inactivation Saline Solution</a:t>
            </a:r>
            <a:endParaRPr b="1">
              <a:highlight>
                <a:srgbClr val="00FFFF"/>
              </a:highlight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3244325" y="669700"/>
            <a:ext cx="2674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</a:rPr>
              <a:t>Amplification Reaction Mix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3745825" y="6939225"/>
            <a:ext cx="1115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00FFFF"/>
                </a:highlight>
              </a:rPr>
              <a:t>STEP #1</a:t>
            </a:r>
            <a:endParaRPr b="1">
              <a:highlight>
                <a:srgbClr val="00FFFF"/>
              </a:highlight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7978675" y="4394800"/>
            <a:ext cx="934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00"/>
                </a:highlight>
              </a:rPr>
              <a:t>STEP #2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211" name="Google Shape;211;p14"/>
          <p:cNvSpPr/>
          <p:nvPr/>
        </p:nvSpPr>
        <p:spPr>
          <a:xfrm flipH="1" rot="5398747">
            <a:off x="5947200" y="4790554"/>
            <a:ext cx="2468700" cy="554100"/>
          </a:xfrm>
          <a:prstGeom prst="bentArrow">
            <a:avLst>
              <a:gd fmla="val 25000" name="adj1"/>
              <a:gd fmla="val 21525" name="adj2"/>
              <a:gd fmla="val 25000" name="adj3"/>
              <a:gd fmla="val 87500" name="adj4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2" name="Google Shape;212;p14"/>
          <p:cNvGraphicFramePr/>
          <p:nvPr/>
        </p:nvGraphicFramePr>
        <p:xfrm>
          <a:off x="7526563" y="703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{5796AF51-DADE-471F-8CA9-AD1DC86A8AC0}</a:tableStyleId>
              </a:tblPr>
              <a:tblGrid>
                <a:gridCol w="870575"/>
                <a:gridCol w="404425"/>
                <a:gridCol w="400175"/>
                <a:gridCol w="382850"/>
                <a:gridCol w="382850"/>
              </a:tblGrid>
              <a:tr h="2157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Reaction Mix Prep: Quick Reference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  <a:tc hMerge="1"/>
              </a:tr>
              <a:tr h="21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# Reactions</a:t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</a:t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16</a:t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24</a:t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48</a:t>
                      </a:r>
                      <a:endParaRPr sz="8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1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PGS (</a:t>
                      </a:r>
                      <a:r>
                        <a:rPr lang="en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µ</a:t>
                      </a:r>
                      <a:r>
                        <a:rPr lang="en" sz="800"/>
                        <a:t>L)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92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183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275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550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1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LAMP MM (</a:t>
                      </a:r>
                      <a:r>
                        <a:rPr lang="en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µ</a:t>
                      </a:r>
                      <a:r>
                        <a:rPr lang="en" sz="800"/>
                        <a:t>L)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109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218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328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655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