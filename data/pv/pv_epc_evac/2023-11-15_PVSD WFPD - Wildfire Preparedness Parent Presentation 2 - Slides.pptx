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Didact Gothic"/>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idactGothic-regular.fnt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6ae649ee5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6ae649ee5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742cc073d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742cc073d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742cc073d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42cc073d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6ae649ee5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6ae649ee5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 and/or Selena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742cc073d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742cc073d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Kim/Selena</a:t>
            </a:r>
            <a:endParaRPr/>
          </a:p>
          <a:p>
            <a:pPr indent="0" lvl="0" marL="0" rtl="0" algn="just">
              <a:lnSpc>
                <a:spcPct val="115000"/>
              </a:lnSpc>
              <a:spcBef>
                <a:spcPts val="0"/>
              </a:spcBef>
              <a:spcAft>
                <a:spcPts val="0"/>
              </a:spcAft>
              <a:buClr>
                <a:schemeClr val="dk1"/>
              </a:buClr>
              <a:buSzPts val="1100"/>
              <a:buFont typeface="Arial"/>
              <a:buNone/>
            </a:pPr>
            <a:r>
              <a:rPr lang="en" sz="1500">
                <a:solidFill>
                  <a:schemeClr val="dk1"/>
                </a:solidFill>
              </a:rPr>
              <a:t>Under the best circumstances, sheltering‐in-place should be considered when one or more buildings on campus is designed to withstand heat and flames from an approaching wildfire. In other words, these buildings must be built with </a:t>
            </a:r>
            <a:r>
              <a:rPr b="1" lang="en" sz="1500">
                <a:solidFill>
                  <a:schemeClr val="dk1"/>
                </a:solidFill>
              </a:rPr>
              <a:t>ignition-resistant construction</a:t>
            </a:r>
            <a:r>
              <a:rPr lang="en" sz="1500">
                <a:solidFill>
                  <a:schemeClr val="dk1"/>
                </a:solidFill>
              </a:rPr>
              <a:t>, including well maintained defensible space, such as fire-resistant landscaping, with a minimum 100‐foot defensible space surrounding the structure(s). Woodside Fire Protection District has assisted in evaluating our </a:t>
            </a:r>
            <a:r>
              <a:rPr b="1" lang="en" sz="1500">
                <a:solidFill>
                  <a:schemeClr val="dk1"/>
                </a:solidFill>
              </a:rPr>
              <a:t>defensible space</a:t>
            </a:r>
            <a:r>
              <a:rPr lang="en" sz="1500">
                <a:solidFill>
                  <a:schemeClr val="dk1"/>
                </a:solidFill>
              </a:rPr>
              <a:t>s, ignition-resistant construction, and fire mitigation efforts.</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rgbClr val="595959"/>
              </a:solidFill>
            </a:endParaRPr>
          </a:p>
          <a:p>
            <a:pPr indent="0" lvl="0" marL="0" rtl="0" algn="l">
              <a:spcBef>
                <a:spcPts val="16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742cc073d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742cc073d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6ae649ee5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6ae649ee5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scenarios will district reach out to access buses, what window of time?</a:t>
            </a:r>
            <a:endParaRPr/>
          </a:p>
          <a:p>
            <a:pPr indent="0" lvl="0" marL="0" rtl="0" algn="l">
              <a:spcBef>
                <a:spcPts val="0"/>
              </a:spcBef>
              <a:spcAft>
                <a:spcPts val="0"/>
              </a:spcAft>
              <a:buNone/>
            </a:pPr>
            <a:r>
              <a:rPr lang="en"/>
              <a:t>How will this be communicated?</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i="1" lang="en" sz="1600">
                <a:solidFill>
                  <a:schemeClr val="dk1"/>
                </a:solidFill>
              </a:rPr>
              <a:t>Possible emergency transportation resources (buses would need to come to the schools as we don’t own buses):</a:t>
            </a:r>
            <a:endParaRPr i="1"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Las Lomitas Elementary School District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Sequoia Union High School District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SamTrans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0828c203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80828c203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 </a:t>
            </a:r>
            <a:endParaRPr/>
          </a:p>
          <a:p>
            <a:pPr indent="0" lvl="0" marL="0" marR="0" rtl="0" algn="just">
              <a:spcBef>
                <a:spcPts val="0"/>
              </a:spcBef>
              <a:spcAft>
                <a:spcPts val="0"/>
              </a:spcAft>
              <a:buClr>
                <a:schemeClr val="dk1"/>
              </a:buClr>
              <a:buSzPts val="1100"/>
              <a:buFont typeface="Arial"/>
              <a:buNone/>
            </a:pPr>
            <a:r>
              <a:rPr lang="en" sz="1700">
                <a:solidFill>
                  <a:schemeClr val="dk1"/>
                </a:solidFill>
              </a:rPr>
              <a:t>Circumstances may occur at the school which require parents to pick up their students in a formalized, controlled release. </a:t>
            </a:r>
            <a:endParaRPr sz="1700">
              <a:solidFill>
                <a:schemeClr val="dk1"/>
              </a:solidFill>
            </a:endParaRPr>
          </a:p>
          <a:p>
            <a:pPr indent="0" lvl="0" marL="0" marR="0" rtl="0" algn="just">
              <a:spcBef>
                <a:spcPts val="1000"/>
              </a:spcBef>
              <a:spcAft>
                <a:spcPts val="0"/>
              </a:spcAft>
              <a:buClr>
                <a:schemeClr val="dk1"/>
              </a:buClr>
              <a:buSzPts val="1100"/>
              <a:buFont typeface="Arial"/>
              <a:buNone/>
            </a:pPr>
            <a:r>
              <a:rPr lang="en" sz="1700">
                <a:solidFill>
                  <a:schemeClr val="dk1"/>
                </a:solidFill>
              </a:rPr>
              <a:t>This process is called a Reunification and may be necessary due to weather, a power outage, hazmat, an approaching wildfire, </a:t>
            </a:r>
            <a:r>
              <a:rPr lang="en" sz="1700">
                <a:solidFill>
                  <a:schemeClr val="dk1"/>
                </a:solidFill>
              </a:rPr>
              <a:t>or</a:t>
            </a:r>
            <a:r>
              <a:rPr lang="en" sz="1700">
                <a:solidFill>
                  <a:schemeClr val="dk1"/>
                </a:solidFill>
              </a:rPr>
              <a:t> if any crisis situation occurs at the school. </a:t>
            </a:r>
            <a:endParaRPr sz="1700">
              <a:solidFill>
                <a:schemeClr val="dk1"/>
              </a:solidFill>
            </a:endParaRPr>
          </a:p>
          <a:p>
            <a:pPr indent="0" lvl="0" marL="0" marR="0" rtl="0" algn="just">
              <a:spcBef>
                <a:spcPts val="1000"/>
              </a:spcBef>
              <a:spcAft>
                <a:spcPts val="0"/>
              </a:spcAft>
              <a:buClr>
                <a:schemeClr val="dk1"/>
              </a:buClr>
              <a:buSzPts val="1100"/>
              <a:buFont typeface="Arial"/>
              <a:buNone/>
            </a:pPr>
            <a:r>
              <a:rPr lang="en" sz="1700">
                <a:solidFill>
                  <a:schemeClr val="dk1"/>
                </a:solidFill>
              </a:rPr>
              <a:t>Because a reunification is not a typical end-of-school-day event, reunification may occur at a different location than the school a student attends. </a:t>
            </a:r>
            <a:endParaRPr sz="1700">
              <a:solidFill>
                <a:schemeClr val="dk1"/>
              </a:solidFill>
            </a:endParaRPr>
          </a:p>
          <a:p>
            <a:pPr indent="0" lvl="0" marL="0" marR="0" rtl="0" algn="just">
              <a:spcBef>
                <a:spcPts val="1000"/>
              </a:spcBef>
              <a:spcAft>
                <a:spcPts val="1000"/>
              </a:spcAft>
              <a:buClr>
                <a:schemeClr val="dk1"/>
              </a:buClr>
              <a:buSzPts val="1100"/>
              <a:buFont typeface="Arial"/>
              <a:buNone/>
            </a:pPr>
            <a:r>
              <a:rPr lang="en" sz="1700">
                <a:solidFill>
                  <a:schemeClr val="dk1"/>
                </a:solidFill>
              </a:rPr>
              <a:t>If this location is another school, those students may be subject to a controlled release as well.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80828c203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80828c203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80828c203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80828c203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80828c203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80828c203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80828c203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80828c203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6ae649ee5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6ae649ee5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8572dff7d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8572dff7d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Kim/Selena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8572dff7d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8572dff7d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 Kim/Selena</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80828c203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80828c203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92791991c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92791991c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Selena</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86fa0f8c38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86fa0f8c38_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Selena</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6ae649ee5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6ae649ee5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8657db08d6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8657db08d6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80828c203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80828c203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80828c203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80828c203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80828c203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80828c203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Roberta</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6ae649ee5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6ae649ee5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3"/>
          <p:cNvSpPr/>
          <p:nvPr/>
        </p:nvSpPr>
        <p:spPr>
          <a:xfrm>
            <a:off x="2448225" y="447900"/>
            <a:ext cx="4247700" cy="4247700"/>
          </a:xfrm>
          <a:prstGeom prst="ellipse">
            <a:avLst/>
          </a:prstGeom>
          <a:no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p:nvPr/>
        </p:nvSpPr>
        <p:spPr>
          <a:xfrm>
            <a:off x="2571825" y="571500"/>
            <a:ext cx="4000500" cy="40005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3"/>
          <p:cNvSpPr txBox="1"/>
          <p:nvPr>
            <p:ph type="title"/>
          </p:nvPr>
        </p:nvSpPr>
        <p:spPr>
          <a:xfrm>
            <a:off x="3019425" y="1662150"/>
            <a:ext cx="3105300" cy="18192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None/>
              <a:defRPr b="1" sz="4000">
                <a:solidFill>
                  <a:schemeClr val="dk1"/>
                </a:solidFill>
              </a:defRPr>
            </a:lvl1pPr>
            <a:lvl2pPr lvl="1" algn="ctr">
              <a:lnSpc>
                <a:spcPct val="100000"/>
              </a:lnSpc>
              <a:spcBef>
                <a:spcPts val="0"/>
              </a:spcBef>
              <a:spcAft>
                <a:spcPts val="0"/>
              </a:spcAft>
              <a:buNone/>
              <a:defRPr b="1" sz="2800">
                <a:solidFill>
                  <a:schemeClr val="dk1"/>
                </a:solidFill>
              </a:defRPr>
            </a:lvl2pPr>
            <a:lvl3pPr lvl="2" algn="ctr">
              <a:lnSpc>
                <a:spcPct val="100000"/>
              </a:lnSpc>
              <a:spcBef>
                <a:spcPts val="0"/>
              </a:spcBef>
              <a:spcAft>
                <a:spcPts val="0"/>
              </a:spcAft>
              <a:buNone/>
              <a:defRPr b="1" sz="2800">
                <a:solidFill>
                  <a:schemeClr val="dk1"/>
                </a:solidFill>
              </a:defRPr>
            </a:lvl3pPr>
            <a:lvl4pPr lvl="3" algn="ctr">
              <a:lnSpc>
                <a:spcPct val="100000"/>
              </a:lnSpc>
              <a:spcBef>
                <a:spcPts val="0"/>
              </a:spcBef>
              <a:spcAft>
                <a:spcPts val="0"/>
              </a:spcAft>
              <a:buNone/>
              <a:defRPr b="1" sz="2800">
                <a:solidFill>
                  <a:schemeClr val="dk1"/>
                </a:solidFill>
              </a:defRPr>
            </a:lvl4pPr>
            <a:lvl5pPr lvl="4" algn="ctr">
              <a:lnSpc>
                <a:spcPct val="100000"/>
              </a:lnSpc>
              <a:spcBef>
                <a:spcPts val="0"/>
              </a:spcBef>
              <a:spcAft>
                <a:spcPts val="0"/>
              </a:spcAft>
              <a:buNone/>
              <a:defRPr b="1" sz="2800">
                <a:solidFill>
                  <a:schemeClr val="dk1"/>
                </a:solidFill>
              </a:defRPr>
            </a:lvl5pPr>
            <a:lvl6pPr lvl="5" algn="ctr">
              <a:lnSpc>
                <a:spcPct val="100000"/>
              </a:lnSpc>
              <a:spcBef>
                <a:spcPts val="0"/>
              </a:spcBef>
              <a:spcAft>
                <a:spcPts val="0"/>
              </a:spcAft>
              <a:buNone/>
              <a:defRPr b="1" sz="2800">
                <a:solidFill>
                  <a:schemeClr val="dk1"/>
                </a:solidFill>
              </a:defRPr>
            </a:lvl6pPr>
            <a:lvl7pPr lvl="6" algn="ctr">
              <a:lnSpc>
                <a:spcPct val="100000"/>
              </a:lnSpc>
              <a:spcBef>
                <a:spcPts val="0"/>
              </a:spcBef>
              <a:spcAft>
                <a:spcPts val="0"/>
              </a:spcAft>
              <a:buNone/>
              <a:defRPr b="1" sz="2800">
                <a:solidFill>
                  <a:schemeClr val="dk1"/>
                </a:solidFill>
              </a:defRPr>
            </a:lvl7pPr>
            <a:lvl8pPr lvl="7" algn="ctr">
              <a:lnSpc>
                <a:spcPct val="100000"/>
              </a:lnSpc>
              <a:spcBef>
                <a:spcPts val="0"/>
              </a:spcBef>
              <a:spcAft>
                <a:spcPts val="0"/>
              </a:spcAft>
              <a:buNone/>
              <a:defRPr b="1" sz="2800">
                <a:solidFill>
                  <a:schemeClr val="dk1"/>
                </a:solidFill>
              </a:defRPr>
            </a:lvl8pPr>
            <a:lvl9pPr lvl="8" algn="ctr">
              <a:lnSpc>
                <a:spcPct val="100000"/>
              </a:lnSpc>
              <a:spcBef>
                <a:spcPts val="0"/>
              </a:spcBef>
              <a:spcAft>
                <a:spcPts val="0"/>
              </a:spcAft>
              <a:buNone/>
              <a:defRPr b="1" sz="2800">
                <a:solidFill>
                  <a:schemeClr val="dk1"/>
                </a:solidFill>
              </a:defRPr>
            </a:lvl9pPr>
          </a:lstStyle>
          <a:p/>
        </p:txBody>
      </p:sp>
      <p:sp>
        <p:nvSpPr>
          <p:cNvPr id="55" name="Google Shape;55;p1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FFFFFF"/>
                </a:solidFill>
              </a:defRPr>
            </a:lvl1pPr>
            <a:lvl2pPr lvl="1" algn="r">
              <a:lnSpc>
                <a:spcPct val="100000"/>
              </a:lnSpc>
              <a:spcAft>
                <a:spcPts val="0"/>
              </a:spcAft>
              <a:buNone/>
              <a:defRPr sz="1000">
                <a:solidFill>
                  <a:srgbClr val="FFFFFF"/>
                </a:solidFill>
              </a:defRPr>
            </a:lvl2pPr>
            <a:lvl3pPr lvl="2" algn="r">
              <a:lnSpc>
                <a:spcPct val="100000"/>
              </a:lnSpc>
              <a:spcAft>
                <a:spcPts val="0"/>
              </a:spcAft>
              <a:buNone/>
              <a:defRPr sz="1000">
                <a:solidFill>
                  <a:srgbClr val="FFFFFF"/>
                </a:solidFill>
              </a:defRPr>
            </a:lvl3pPr>
            <a:lvl4pPr lvl="3" algn="r">
              <a:lnSpc>
                <a:spcPct val="100000"/>
              </a:lnSpc>
              <a:spcAft>
                <a:spcPts val="0"/>
              </a:spcAft>
              <a:buNone/>
              <a:defRPr sz="1000">
                <a:solidFill>
                  <a:srgbClr val="FFFFFF"/>
                </a:solidFill>
              </a:defRPr>
            </a:lvl4pPr>
            <a:lvl5pPr lvl="4" algn="r">
              <a:lnSpc>
                <a:spcPct val="100000"/>
              </a:lnSpc>
              <a:spcAft>
                <a:spcPts val="0"/>
              </a:spcAft>
              <a:buNone/>
              <a:defRPr sz="1000">
                <a:solidFill>
                  <a:srgbClr val="FFFFFF"/>
                </a:solidFill>
              </a:defRPr>
            </a:lvl5pPr>
            <a:lvl6pPr lvl="5" algn="r">
              <a:lnSpc>
                <a:spcPct val="100000"/>
              </a:lnSpc>
              <a:spcAft>
                <a:spcPts val="0"/>
              </a:spcAft>
              <a:buNone/>
              <a:defRPr sz="1000">
                <a:solidFill>
                  <a:srgbClr val="FFFFFF"/>
                </a:solidFill>
              </a:defRPr>
            </a:lvl6pPr>
            <a:lvl7pPr lvl="6" algn="r">
              <a:lnSpc>
                <a:spcPct val="100000"/>
              </a:lnSpc>
              <a:spcAft>
                <a:spcPts val="0"/>
              </a:spcAft>
              <a:buNone/>
              <a:defRPr sz="1000">
                <a:solidFill>
                  <a:srgbClr val="FFFFFF"/>
                </a:solidFill>
              </a:defRPr>
            </a:lvl7pPr>
            <a:lvl8pPr lvl="7" algn="r">
              <a:lnSpc>
                <a:spcPct val="100000"/>
              </a:lnSpc>
              <a:spcAft>
                <a:spcPts val="0"/>
              </a:spcAft>
              <a:buNone/>
              <a:defRPr sz="1000">
                <a:solidFill>
                  <a:srgbClr val="FFFFFF"/>
                </a:solidFill>
              </a:defRPr>
            </a:lvl8pPr>
            <a:lvl9pPr lvl="8"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spTree>
      <p:nvGrpSpPr>
        <p:cNvPr id="56" name="Shape 56"/>
        <p:cNvGrpSpPr/>
        <p:nvPr/>
      </p:nvGrpSpPr>
      <p:grpSpPr>
        <a:xfrm>
          <a:off x="0" y="0"/>
          <a:ext cx="0" cy="0"/>
          <a:chOff x="0" y="0"/>
          <a:chExt cx="0" cy="0"/>
        </a:xfrm>
      </p:grpSpPr>
      <p:sp>
        <p:nvSpPr>
          <p:cNvPr id="57" name="Google Shape;57;p14"/>
          <p:cNvSpPr/>
          <p:nvPr/>
        </p:nvSpPr>
        <p:spPr>
          <a:xfrm>
            <a:off x="0" y="0"/>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172350" y="152100"/>
            <a:ext cx="5418600" cy="3416100"/>
          </a:xfrm>
          <a:prstGeom prst="rect">
            <a:avLst/>
          </a:prstGeom>
          <a:solidFill>
            <a:srgbClr val="FFF4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172350" y="3694325"/>
            <a:ext cx="8811900" cy="1296900"/>
          </a:xfrm>
          <a:prstGeom prst="rect">
            <a:avLst/>
          </a:prstGeom>
          <a:solidFill>
            <a:srgbClr val="DEB7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txBox="1"/>
          <p:nvPr>
            <p:ph type="ctrTitle"/>
          </p:nvPr>
        </p:nvSpPr>
        <p:spPr>
          <a:xfrm>
            <a:off x="822425" y="674525"/>
            <a:ext cx="4254000" cy="2369400"/>
          </a:xfrm>
          <a:prstGeom prst="rect">
            <a:avLst/>
          </a:prstGeom>
          <a:noFill/>
        </p:spPr>
        <p:txBody>
          <a:bodyPr anchorCtr="0" anchor="ctr" bIns="91425" lIns="91425" spcFirstLastPara="1" rIns="91425" wrap="square" tIns="91425">
            <a:noAutofit/>
          </a:bodyPr>
          <a:lstStyle>
            <a:lvl1pPr lvl="0" algn="l">
              <a:lnSpc>
                <a:spcPct val="100000"/>
              </a:lnSpc>
              <a:spcBef>
                <a:spcPts val="0"/>
              </a:spcBef>
              <a:spcAft>
                <a:spcPts val="0"/>
              </a:spcAft>
              <a:buClr>
                <a:srgbClr val="63615A"/>
              </a:buClr>
              <a:buSzPts val="3600"/>
              <a:buNone/>
              <a:defRPr b="1" sz="3600">
                <a:solidFill>
                  <a:srgbClr val="63615A"/>
                </a:solidFill>
              </a:defRPr>
            </a:lvl1pPr>
            <a:lvl2pPr lvl="1" algn="l">
              <a:lnSpc>
                <a:spcPct val="100000"/>
              </a:lnSpc>
              <a:spcBef>
                <a:spcPts val="0"/>
              </a:spcBef>
              <a:spcAft>
                <a:spcPts val="0"/>
              </a:spcAft>
              <a:buClr>
                <a:srgbClr val="63615A"/>
              </a:buClr>
              <a:buSzPts val="3600"/>
              <a:buNone/>
              <a:defRPr b="1" sz="3600">
                <a:solidFill>
                  <a:srgbClr val="63615A"/>
                </a:solidFill>
              </a:defRPr>
            </a:lvl2pPr>
            <a:lvl3pPr lvl="2" algn="l">
              <a:lnSpc>
                <a:spcPct val="100000"/>
              </a:lnSpc>
              <a:spcBef>
                <a:spcPts val="0"/>
              </a:spcBef>
              <a:spcAft>
                <a:spcPts val="0"/>
              </a:spcAft>
              <a:buClr>
                <a:srgbClr val="63615A"/>
              </a:buClr>
              <a:buSzPts val="3600"/>
              <a:buNone/>
              <a:defRPr b="1" sz="3600">
                <a:solidFill>
                  <a:srgbClr val="63615A"/>
                </a:solidFill>
              </a:defRPr>
            </a:lvl3pPr>
            <a:lvl4pPr lvl="3" algn="l">
              <a:lnSpc>
                <a:spcPct val="100000"/>
              </a:lnSpc>
              <a:spcBef>
                <a:spcPts val="0"/>
              </a:spcBef>
              <a:spcAft>
                <a:spcPts val="0"/>
              </a:spcAft>
              <a:buClr>
                <a:srgbClr val="63615A"/>
              </a:buClr>
              <a:buSzPts val="3600"/>
              <a:buNone/>
              <a:defRPr b="1" sz="3600">
                <a:solidFill>
                  <a:srgbClr val="63615A"/>
                </a:solidFill>
              </a:defRPr>
            </a:lvl4pPr>
            <a:lvl5pPr lvl="4" algn="l">
              <a:lnSpc>
                <a:spcPct val="100000"/>
              </a:lnSpc>
              <a:spcBef>
                <a:spcPts val="0"/>
              </a:spcBef>
              <a:spcAft>
                <a:spcPts val="0"/>
              </a:spcAft>
              <a:buClr>
                <a:srgbClr val="63615A"/>
              </a:buClr>
              <a:buSzPts val="3600"/>
              <a:buNone/>
              <a:defRPr b="1" sz="3600">
                <a:solidFill>
                  <a:srgbClr val="63615A"/>
                </a:solidFill>
              </a:defRPr>
            </a:lvl5pPr>
            <a:lvl6pPr lvl="5" algn="l">
              <a:lnSpc>
                <a:spcPct val="100000"/>
              </a:lnSpc>
              <a:spcBef>
                <a:spcPts val="0"/>
              </a:spcBef>
              <a:spcAft>
                <a:spcPts val="0"/>
              </a:spcAft>
              <a:buClr>
                <a:srgbClr val="63615A"/>
              </a:buClr>
              <a:buSzPts val="3600"/>
              <a:buNone/>
              <a:defRPr b="1" sz="3600">
                <a:solidFill>
                  <a:srgbClr val="63615A"/>
                </a:solidFill>
              </a:defRPr>
            </a:lvl6pPr>
            <a:lvl7pPr lvl="6" algn="l">
              <a:lnSpc>
                <a:spcPct val="100000"/>
              </a:lnSpc>
              <a:spcBef>
                <a:spcPts val="0"/>
              </a:spcBef>
              <a:spcAft>
                <a:spcPts val="0"/>
              </a:spcAft>
              <a:buClr>
                <a:srgbClr val="63615A"/>
              </a:buClr>
              <a:buSzPts val="3600"/>
              <a:buNone/>
              <a:defRPr b="1" sz="3600">
                <a:solidFill>
                  <a:srgbClr val="63615A"/>
                </a:solidFill>
              </a:defRPr>
            </a:lvl7pPr>
            <a:lvl8pPr lvl="7" algn="l">
              <a:lnSpc>
                <a:spcPct val="100000"/>
              </a:lnSpc>
              <a:spcBef>
                <a:spcPts val="0"/>
              </a:spcBef>
              <a:spcAft>
                <a:spcPts val="0"/>
              </a:spcAft>
              <a:buClr>
                <a:srgbClr val="63615A"/>
              </a:buClr>
              <a:buSzPts val="3600"/>
              <a:buNone/>
              <a:defRPr b="1" sz="3600">
                <a:solidFill>
                  <a:srgbClr val="63615A"/>
                </a:solidFill>
              </a:defRPr>
            </a:lvl8pPr>
            <a:lvl9pPr lvl="8" algn="l">
              <a:lnSpc>
                <a:spcPct val="100000"/>
              </a:lnSpc>
              <a:spcBef>
                <a:spcPts val="0"/>
              </a:spcBef>
              <a:spcAft>
                <a:spcPts val="0"/>
              </a:spcAft>
              <a:buClr>
                <a:srgbClr val="63615A"/>
              </a:buClr>
              <a:buSzPts val="3600"/>
              <a:buNone/>
              <a:defRPr b="1" sz="3600">
                <a:solidFill>
                  <a:srgbClr val="63615A"/>
                </a:solidFill>
              </a:defRPr>
            </a:lvl9pPr>
          </a:lstStyle>
          <a:p/>
        </p:txBody>
      </p:sp>
      <p:sp>
        <p:nvSpPr>
          <p:cNvPr id="61" name="Google Shape;61;p14"/>
          <p:cNvSpPr txBox="1"/>
          <p:nvPr>
            <p:ph idx="1" type="subTitle"/>
          </p:nvPr>
        </p:nvSpPr>
        <p:spPr>
          <a:xfrm>
            <a:off x="822425" y="3975600"/>
            <a:ext cx="4026600" cy="769800"/>
          </a:xfrm>
          <a:prstGeom prst="rect">
            <a:avLst/>
          </a:prstGeom>
          <a:noFill/>
        </p:spPr>
        <p:txBody>
          <a:bodyPr anchorCtr="0" anchor="t" bIns="91425" lIns="91425" spcFirstLastPara="1" rIns="91425" wrap="square" tIns="91425">
            <a:noAutofit/>
          </a:bodyPr>
          <a:lstStyle>
            <a:lvl1pPr lvl="0" algn="l">
              <a:lnSpc>
                <a:spcPct val="100000"/>
              </a:lnSpc>
              <a:spcBef>
                <a:spcPts val="0"/>
              </a:spcBef>
              <a:spcAft>
                <a:spcPts val="0"/>
              </a:spcAft>
              <a:buClr>
                <a:srgbClr val="FFFFFF"/>
              </a:buClr>
              <a:buSzPts val="1600"/>
              <a:buNone/>
              <a:defRPr b="1" sz="1600">
                <a:solidFill>
                  <a:srgbClr val="FFFFFF"/>
                </a:solidFill>
              </a:defRPr>
            </a:lvl1pPr>
            <a:lvl2pPr lvl="1" algn="l">
              <a:lnSpc>
                <a:spcPct val="100000"/>
              </a:lnSpc>
              <a:spcBef>
                <a:spcPts val="0"/>
              </a:spcBef>
              <a:spcAft>
                <a:spcPts val="0"/>
              </a:spcAft>
              <a:buClr>
                <a:srgbClr val="FFFFFF"/>
              </a:buClr>
              <a:buSzPts val="1600"/>
              <a:buNone/>
              <a:defRPr b="1" sz="1600">
                <a:solidFill>
                  <a:srgbClr val="FFFFFF"/>
                </a:solidFill>
              </a:defRPr>
            </a:lvl2pPr>
            <a:lvl3pPr lvl="2" algn="l">
              <a:lnSpc>
                <a:spcPct val="100000"/>
              </a:lnSpc>
              <a:spcBef>
                <a:spcPts val="0"/>
              </a:spcBef>
              <a:spcAft>
                <a:spcPts val="0"/>
              </a:spcAft>
              <a:buClr>
                <a:srgbClr val="FFFFFF"/>
              </a:buClr>
              <a:buSzPts val="1600"/>
              <a:buNone/>
              <a:defRPr b="1" sz="1600">
                <a:solidFill>
                  <a:srgbClr val="FFFFFF"/>
                </a:solidFill>
              </a:defRPr>
            </a:lvl3pPr>
            <a:lvl4pPr lvl="3" algn="l">
              <a:lnSpc>
                <a:spcPct val="100000"/>
              </a:lnSpc>
              <a:spcBef>
                <a:spcPts val="0"/>
              </a:spcBef>
              <a:spcAft>
                <a:spcPts val="0"/>
              </a:spcAft>
              <a:buClr>
                <a:srgbClr val="FFFFFF"/>
              </a:buClr>
              <a:buSzPts val="1600"/>
              <a:buNone/>
              <a:defRPr b="1" sz="1600">
                <a:solidFill>
                  <a:srgbClr val="FFFFFF"/>
                </a:solidFill>
              </a:defRPr>
            </a:lvl4pPr>
            <a:lvl5pPr lvl="4" algn="l">
              <a:lnSpc>
                <a:spcPct val="100000"/>
              </a:lnSpc>
              <a:spcBef>
                <a:spcPts val="0"/>
              </a:spcBef>
              <a:spcAft>
                <a:spcPts val="0"/>
              </a:spcAft>
              <a:buClr>
                <a:srgbClr val="FFFFFF"/>
              </a:buClr>
              <a:buSzPts val="1600"/>
              <a:buNone/>
              <a:defRPr b="1" sz="1600">
                <a:solidFill>
                  <a:srgbClr val="FFFFFF"/>
                </a:solidFill>
              </a:defRPr>
            </a:lvl5pPr>
            <a:lvl6pPr lvl="5" algn="l">
              <a:lnSpc>
                <a:spcPct val="100000"/>
              </a:lnSpc>
              <a:spcBef>
                <a:spcPts val="0"/>
              </a:spcBef>
              <a:spcAft>
                <a:spcPts val="0"/>
              </a:spcAft>
              <a:buClr>
                <a:srgbClr val="FFFFFF"/>
              </a:buClr>
              <a:buSzPts val="1600"/>
              <a:buNone/>
              <a:defRPr b="1" sz="1600">
                <a:solidFill>
                  <a:srgbClr val="FFFFFF"/>
                </a:solidFill>
              </a:defRPr>
            </a:lvl6pPr>
            <a:lvl7pPr lvl="6" algn="l">
              <a:lnSpc>
                <a:spcPct val="100000"/>
              </a:lnSpc>
              <a:spcBef>
                <a:spcPts val="0"/>
              </a:spcBef>
              <a:spcAft>
                <a:spcPts val="0"/>
              </a:spcAft>
              <a:buClr>
                <a:srgbClr val="FFFFFF"/>
              </a:buClr>
              <a:buSzPts val="1600"/>
              <a:buNone/>
              <a:defRPr b="1" sz="1600">
                <a:solidFill>
                  <a:srgbClr val="FFFFFF"/>
                </a:solidFill>
              </a:defRPr>
            </a:lvl7pPr>
            <a:lvl8pPr lvl="7" algn="l">
              <a:lnSpc>
                <a:spcPct val="100000"/>
              </a:lnSpc>
              <a:spcBef>
                <a:spcPts val="0"/>
              </a:spcBef>
              <a:spcAft>
                <a:spcPts val="0"/>
              </a:spcAft>
              <a:buClr>
                <a:srgbClr val="FFFFFF"/>
              </a:buClr>
              <a:buSzPts val="1600"/>
              <a:buNone/>
              <a:defRPr b="1" sz="1600">
                <a:solidFill>
                  <a:srgbClr val="FFFFFF"/>
                </a:solidFill>
              </a:defRPr>
            </a:lvl8pPr>
            <a:lvl9pPr lvl="8" algn="l">
              <a:lnSpc>
                <a:spcPct val="100000"/>
              </a:lnSpc>
              <a:spcBef>
                <a:spcPts val="0"/>
              </a:spcBef>
              <a:spcAft>
                <a:spcPts val="0"/>
              </a:spcAft>
              <a:buClr>
                <a:srgbClr val="FFFFFF"/>
              </a:buClr>
              <a:buSzPts val="1600"/>
              <a:buNone/>
              <a:defRPr b="1" sz="1600">
                <a:solidFill>
                  <a:srgbClr val="FFFFFF"/>
                </a:solidFill>
              </a:defRPr>
            </a:lvl9pPr>
          </a:lstStyle>
          <a:p/>
        </p:txBody>
      </p:sp>
      <p:sp>
        <p:nvSpPr>
          <p:cNvPr id="62" name="Google Shape;62;p14"/>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algn="r">
              <a:lnSpc>
                <a:spcPct val="100000"/>
              </a:lnSpc>
              <a:spcAft>
                <a:spcPts val="0"/>
              </a:spcAft>
              <a:buNone/>
              <a:defRPr sz="1000">
                <a:solidFill>
                  <a:srgbClr val="434343"/>
                </a:solidFill>
              </a:defRPr>
            </a:lvl1pPr>
            <a:lvl2pPr lvl="1" algn="r">
              <a:lnSpc>
                <a:spcPct val="100000"/>
              </a:lnSpc>
              <a:spcAft>
                <a:spcPts val="0"/>
              </a:spcAft>
              <a:buNone/>
              <a:defRPr sz="1000">
                <a:solidFill>
                  <a:srgbClr val="434343"/>
                </a:solidFill>
              </a:defRPr>
            </a:lvl2pPr>
            <a:lvl3pPr lvl="2" algn="r">
              <a:lnSpc>
                <a:spcPct val="100000"/>
              </a:lnSpc>
              <a:spcAft>
                <a:spcPts val="0"/>
              </a:spcAft>
              <a:buNone/>
              <a:defRPr sz="1000">
                <a:solidFill>
                  <a:srgbClr val="434343"/>
                </a:solidFill>
              </a:defRPr>
            </a:lvl3pPr>
            <a:lvl4pPr lvl="3" algn="r">
              <a:lnSpc>
                <a:spcPct val="100000"/>
              </a:lnSpc>
              <a:spcAft>
                <a:spcPts val="0"/>
              </a:spcAft>
              <a:buNone/>
              <a:defRPr sz="1000">
                <a:solidFill>
                  <a:srgbClr val="434343"/>
                </a:solidFill>
              </a:defRPr>
            </a:lvl4pPr>
            <a:lvl5pPr lvl="4" algn="r">
              <a:lnSpc>
                <a:spcPct val="100000"/>
              </a:lnSpc>
              <a:spcAft>
                <a:spcPts val="0"/>
              </a:spcAft>
              <a:buNone/>
              <a:defRPr sz="1000">
                <a:solidFill>
                  <a:srgbClr val="434343"/>
                </a:solidFill>
              </a:defRPr>
            </a:lvl5pPr>
            <a:lvl6pPr lvl="5" algn="r">
              <a:lnSpc>
                <a:spcPct val="100000"/>
              </a:lnSpc>
              <a:spcAft>
                <a:spcPts val="0"/>
              </a:spcAft>
              <a:buNone/>
              <a:defRPr sz="1000">
                <a:solidFill>
                  <a:srgbClr val="434343"/>
                </a:solidFill>
              </a:defRPr>
            </a:lvl6pPr>
            <a:lvl7pPr lvl="6" algn="r">
              <a:lnSpc>
                <a:spcPct val="100000"/>
              </a:lnSpc>
              <a:spcAft>
                <a:spcPts val="0"/>
              </a:spcAft>
              <a:buNone/>
              <a:defRPr sz="1000">
                <a:solidFill>
                  <a:srgbClr val="434343"/>
                </a:solidFill>
              </a:defRPr>
            </a:lvl7pPr>
            <a:lvl8pPr lvl="7" algn="r">
              <a:lnSpc>
                <a:spcPct val="100000"/>
              </a:lnSpc>
              <a:spcAft>
                <a:spcPts val="0"/>
              </a:spcAft>
              <a:buNone/>
              <a:defRPr sz="1000">
                <a:solidFill>
                  <a:srgbClr val="434343"/>
                </a:solidFill>
              </a:defRPr>
            </a:lvl8pPr>
            <a:lvl9pPr lvl="8" algn="r">
              <a:lnSpc>
                <a:spcPct val="100000"/>
              </a:lnSpc>
              <a:spcAft>
                <a:spcPts val="0"/>
              </a:spcAft>
              <a:buNone/>
              <a:defRPr sz="1000">
                <a:solidFill>
                  <a:srgbClr val="43434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2F2F2"/>
            </a:gs>
            <a:gs pos="100000">
              <a:srgbClr val="A6A6A6"/>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hyperlink" Target="https://www.smcoe.org/assets/files/For%20Schools_FIL/Safe%20and%20Supportive%20Schools_FIL/School%20Safety_FIL/The%20Big%20Five%20Community%20Packet%202023-24_1.pdf" TargetMode="External"/><Relationship Id="rId6" Type="http://schemas.openxmlformats.org/officeDocument/2006/relationships/hyperlink" Target="https://www.smcoe.org/assets/files/For%20Schools_FIL/Safe%20and%20Supportive%20Schools_FIL/School%20Safety_FIL/The%20Big%20Five%20Community%20Packet%202023-24_1.pdf" TargetMode="External"/><Relationship Id="rId7" Type="http://schemas.openxmlformats.org/officeDocument/2006/relationships/hyperlink" Target="https://www.smcoe.org/assets/files/For%20Schools_FIL/Safe%20and%20Supportive%20Schools_FIL/School%20Safety_FIL/The%20Big%20Five%20Community%20Packet%202023-24_1.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1" Type="http://schemas.openxmlformats.org/officeDocument/2006/relationships/hyperlink" Target="https://www.smcgov.org/ceo/smc-alert" TargetMode="External"/><Relationship Id="rId10" Type="http://schemas.openxmlformats.org/officeDocument/2006/relationships/image" Target="../media/image8.png"/><Relationship Id="rId13" Type="http://schemas.openxmlformats.org/officeDocument/2006/relationships/hyperlink" Target="https://www.portolavalley.net/community/emergency-preparedness-information/radio-frequencies" TargetMode="External"/><Relationship Id="rId12"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hsd.smcsheriff.com/divisions/homeland-security-division/area-office-emergency-services/all-hazards" TargetMode="External"/><Relationship Id="rId4" Type="http://schemas.openxmlformats.org/officeDocument/2006/relationships/image" Target="../media/image9.png"/><Relationship Id="rId9" Type="http://schemas.openxmlformats.org/officeDocument/2006/relationships/hyperlink" Target="https://www.portolavalley.net/for-residents/portola-valley-emergency-information" TargetMode="External"/><Relationship Id="rId15" Type="http://schemas.openxmlformats.org/officeDocument/2006/relationships/image" Target="../media/image5.png"/><Relationship Id="rId14" Type="http://schemas.openxmlformats.org/officeDocument/2006/relationships/hyperlink" Target="https://www.smcoe.org/" TargetMode="External"/><Relationship Id="rId17" Type="http://schemas.openxmlformats.org/officeDocument/2006/relationships/image" Target="../media/image10.png"/><Relationship Id="rId16" Type="http://schemas.openxmlformats.org/officeDocument/2006/relationships/hyperlink" Target="https://www.pulsepoint.org/download/" TargetMode="External"/><Relationship Id="rId5" Type="http://schemas.openxmlformats.org/officeDocument/2006/relationships/hyperlink" Target="https://www.woodsidefire.org/" TargetMode="External"/><Relationship Id="rId19" Type="http://schemas.openxmlformats.org/officeDocument/2006/relationships/image" Target="../media/image4.png"/><Relationship Id="rId6" Type="http://schemas.openxmlformats.org/officeDocument/2006/relationships/image" Target="../media/image1.png"/><Relationship Id="rId18" Type="http://schemas.openxmlformats.org/officeDocument/2006/relationships/hyperlink" Target="https://wpv-ready.org/" TargetMode="External"/><Relationship Id="rId7" Type="http://schemas.openxmlformats.org/officeDocument/2006/relationships/hyperlink" Target="https://www.ready.gov/wildfires" TargetMode="External"/><Relationship Id="rId8"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smcgov.org/ceo/smc-alert" TargetMode="External"/><Relationship Id="rId4" Type="http://schemas.openxmlformats.org/officeDocument/2006/relationships/hyperlink" Target="https://protect.genasys.com/search?z=14&amp;latlon=37.384107%2C-122.235244" TargetMode="External"/><Relationship Id="rId5" Type="http://schemas.openxmlformats.org/officeDocument/2006/relationships/image" Target="../media/image6.png"/><Relationship Id="rId6" Type="http://schemas.openxmlformats.org/officeDocument/2006/relationships/image" Target="../media/image21.png"/><Relationship Id="rId7" Type="http://schemas.openxmlformats.org/officeDocument/2006/relationships/image" Target="../media/image14.png"/><Relationship Id="rId8"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docs.google.com/document/d/1a-iOKnzQOsQ1ooRU0ICmg2vznlsQ2yo3ndxb0zon2Fo/edit?usp=sharing" TargetMode="External"/><Relationship Id="rId4" Type="http://schemas.openxmlformats.org/officeDocument/2006/relationships/image" Target="../media/image17.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smcoe.org/assets/files/For%20Schools_FIL/Safe%20and%20Supportive%20Schools_FIL/Air_Quality_Resources/Air_Quality_Guidance.pdf" TargetMode="External"/><Relationship Id="rId4" Type="http://schemas.openxmlformats.org/officeDocument/2006/relationships/hyperlink" Target="https://www.smcoe.org/assets/files/For%20Schools_FIL/Safe%20and%20Supportive%20Schools_FIL/Air_Quality_Resources/Air_Quality_Guidance.pdf" TargetMode="External"/><Relationship Id="rId5" Type="http://schemas.openxmlformats.org/officeDocument/2006/relationships/hyperlink" Target="http://www.baaqmd.gov/about-air-quality/current-air-quality/air-monitoring-data/#/aqi?id=316&amp;view=hourly" TargetMode="External"/><Relationship Id="rId6" Type="http://schemas.openxmlformats.org/officeDocument/2006/relationships/hyperlink" Target="https://www.airnow.gov/state/?name=californi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b="0" l="1960" r="1950" t="0"/>
          <a:stretch/>
        </p:blipFill>
        <p:spPr>
          <a:xfrm>
            <a:off x="7101950" y="197500"/>
            <a:ext cx="1609250" cy="1674750"/>
          </a:xfrm>
          <a:prstGeom prst="rect">
            <a:avLst/>
          </a:prstGeom>
          <a:noFill/>
          <a:ln>
            <a:noFill/>
          </a:ln>
        </p:spPr>
      </p:pic>
      <p:sp>
        <p:nvSpPr>
          <p:cNvPr id="68" name="Google Shape;68;p15"/>
          <p:cNvSpPr txBox="1"/>
          <p:nvPr>
            <p:ph type="ctrTitle"/>
          </p:nvPr>
        </p:nvSpPr>
        <p:spPr>
          <a:xfrm>
            <a:off x="822425" y="517650"/>
            <a:ext cx="4254000" cy="2526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Wildfire Preparedness</a:t>
            </a:r>
            <a:endParaRPr/>
          </a:p>
          <a:p>
            <a:pPr indent="0" lvl="0" marL="0" rtl="0" algn="l">
              <a:spcBef>
                <a:spcPts val="0"/>
              </a:spcBef>
              <a:spcAft>
                <a:spcPts val="0"/>
              </a:spcAft>
              <a:buNone/>
            </a:pPr>
            <a:r>
              <a:rPr lang="en"/>
              <a:t>Staff &amp; Parent Presentation </a:t>
            </a:r>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September 20, 2023 (Ormondale)</a:t>
            </a:r>
            <a:endParaRPr sz="1600">
              <a:solidFill>
                <a:schemeClr val="dk2"/>
              </a:solidFill>
            </a:endParaRPr>
          </a:p>
          <a:p>
            <a:pPr indent="0" lvl="0" marL="0" rtl="0" algn="l">
              <a:spcBef>
                <a:spcPts val="0"/>
              </a:spcBef>
              <a:spcAft>
                <a:spcPts val="0"/>
              </a:spcAft>
              <a:buClr>
                <a:schemeClr val="dk1"/>
              </a:buClr>
              <a:buSzPts val="1100"/>
              <a:buFont typeface="Arial"/>
              <a:buNone/>
            </a:pPr>
            <a:r>
              <a:rPr lang="en" sz="1600">
                <a:solidFill>
                  <a:schemeClr val="dk2"/>
                </a:solidFill>
              </a:rPr>
              <a:t>November 15, 2023 (virtual)</a:t>
            </a:r>
            <a:endParaRPr sz="1600">
              <a:solidFill>
                <a:schemeClr val="dk2"/>
              </a:solidFill>
            </a:endParaRPr>
          </a:p>
          <a:p>
            <a:pPr indent="0" lvl="0" marL="0" rtl="0" algn="l">
              <a:spcBef>
                <a:spcPts val="0"/>
              </a:spcBef>
              <a:spcAft>
                <a:spcPts val="0"/>
              </a:spcAft>
              <a:buNone/>
            </a:pPr>
            <a:r>
              <a:t/>
            </a:r>
            <a:endParaRPr/>
          </a:p>
        </p:txBody>
      </p:sp>
      <p:sp>
        <p:nvSpPr>
          <p:cNvPr id="69" name="Google Shape;69;p15"/>
          <p:cNvSpPr txBox="1"/>
          <p:nvPr>
            <p:ph idx="1" type="subTitle"/>
          </p:nvPr>
        </p:nvSpPr>
        <p:spPr>
          <a:xfrm>
            <a:off x="209075" y="3805300"/>
            <a:ext cx="8642100" cy="76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Kim Giuliacci, WFPD Fire Inspector II/ Fire Investigator/ Plans Examiner (Fire Marshal)</a:t>
            </a:r>
            <a:endParaRPr>
              <a:solidFill>
                <a:schemeClr val="dk2"/>
              </a:solidFill>
            </a:endParaRPr>
          </a:p>
          <a:p>
            <a:pPr indent="0" lvl="0" marL="0" rtl="0" algn="l">
              <a:spcBef>
                <a:spcPts val="0"/>
              </a:spcBef>
              <a:spcAft>
                <a:spcPts val="0"/>
              </a:spcAft>
              <a:buNone/>
            </a:pPr>
            <a:r>
              <a:rPr lang="en">
                <a:solidFill>
                  <a:schemeClr val="dk2"/>
                </a:solidFill>
              </a:rPr>
              <a:t>Selena Brown, WFPD Public Education Officer/ Emergency Preparedness Coordinator</a:t>
            </a:r>
            <a:endParaRPr>
              <a:solidFill>
                <a:schemeClr val="dk2"/>
              </a:solidFill>
            </a:endParaRPr>
          </a:p>
          <a:p>
            <a:pPr indent="0" lvl="0" marL="0" rtl="0" algn="l">
              <a:spcBef>
                <a:spcPts val="0"/>
              </a:spcBef>
              <a:spcAft>
                <a:spcPts val="0"/>
              </a:spcAft>
              <a:buNone/>
            </a:pPr>
            <a:r>
              <a:rPr lang="en">
                <a:solidFill>
                  <a:schemeClr val="dk2"/>
                </a:solidFill>
              </a:rPr>
              <a:t>Roberta Zarea, PVSD Superintendent</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a:solidFill>
                <a:schemeClr val="dk2"/>
              </a:solidFill>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 name="Google Shape;71;p15"/>
          <p:cNvPicPr preferRelativeResize="0"/>
          <p:nvPr/>
        </p:nvPicPr>
        <p:blipFill>
          <a:blip r:embed="rId4">
            <a:alphaModFix/>
          </a:blip>
          <a:stretch>
            <a:fillRect/>
          </a:stretch>
        </p:blipFill>
        <p:spPr>
          <a:xfrm>
            <a:off x="5630796" y="1812600"/>
            <a:ext cx="3288074" cy="544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387900" y="4713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Presentation Agenda	</a:t>
            </a:r>
            <a:endParaRPr/>
          </a:p>
        </p:txBody>
      </p:sp>
      <p:sp>
        <p:nvSpPr>
          <p:cNvPr id="77" name="Google Shape;77;p16"/>
          <p:cNvSpPr txBox="1"/>
          <p:nvPr>
            <p:ph idx="1" type="body"/>
          </p:nvPr>
        </p:nvSpPr>
        <p:spPr>
          <a:xfrm>
            <a:off x="387900" y="1252413"/>
            <a:ext cx="8520600" cy="346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en">
                <a:solidFill>
                  <a:srgbClr val="000000"/>
                </a:solidFill>
              </a:rPr>
              <a:t>SMCOE Big 5 Immediate Action Response Protocols (Evacuation))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PVSD Wildfire Emergency Response Plan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Emergency Parent Information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Student Release Process</a:t>
            </a:r>
            <a:endParaRPr>
              <a:solidFill>
                <a:srgbClr val="000000"/>
              </a:solidFill>
            </a:endParaRPr>
          </a:p>
          <a:p>
            <a:pPr indent="-342900" lvl="0" marL="457200" rtl="0" algn="l">
              <a:spcBef>
                <a:spcPts val="0"/>
              </a:spcBef>
              <a:spcAft>
                <a:spcPts val="0"/>
              </a:spcAft>
              <a:buClr>
                <a:srgbClr val="000000"/>
              </a:buClr>
              <a:buSzPts val="1800"/>
              <a:buChar char="●"/>
            </a:pPr>
            <a:r>
              <a:rPr lang="en">
                <a:solidFill>
                  <a:schemeClr val="dk1"/>
                </a:solidFill>
              </a:rPr>
              <a:t>Communication and Maintaining Situational Awareness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Poor Air Quality Protocol</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Discussion</a:t>
            </a:r>
            <a:endParaRPr>
              <a:solidFill>
                <a:srgbClr val="000000"/>
              </a:solidFill>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408275" y="292625"/>
            <a:ext cx="2930400" cy="23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Immediate</a:t>
            </a:r>
            <a:br>
              <a:rPr lang="en"/>
            </a:br>
            <a:r>
              <a:rPr lang="en"/>
              <a:t>Action Response:</a:t>
            </a:r>
            <a:br>
              <a:rPr lang="en"/>
            </a:br>
            <a:r>
              <a:rPr lang="en"/>
              <a:t>The Big 5 Protocol</a:t>
            </a:r>
            <a:endParaRPr/>
          </a:p>
        </p:txBody>
      </p:sp>
      <p:pic>
        <p:nvPicPr>
          <p:cNvPr id="84" name="Google Shape;84;p17"/>
          <p:cNvPicPr preferRelativeResize="0"/>
          <p:nvPr/>
        </p:nvPicPr>
        <p:blipFill>
          <a:blip r:embed="rId3">
            <a:alphaModFix/>
          </a:blip>
          <a:stretch>
            <a:fillRect/>
          </a:stretch>
        </p:blipFill>
        <p:spPr>
          <a:xfrm>
            <a:off x="3008699" y="0"/>
            <a:ext cx="5659303" cy="5143500"/>
          </a:xfrm>
          <a:prstGeom prst="rect">
            <a:avLst/>
          </a:prstGeom>
          <a:noFill/>
          <a:ln>
            <a:noFill/>
          </a:ln>
        </p:spPr>
      </p:pic>
      <p:pic>
        <p:nvPicPr>
          <p:cNvPr id="85" name="Google Shape;85;p17"/>
          <p:cNvPicPr preferRelativeResize="0"/>
          <p:nvPr/>
        </p:nvPicPr>
        <p:blipFill>
          <a:blip r:embed="rId4">
            <a:alphaModFix/>
          </a:blip>
          <a:stretch>
            <a:fillRect/>
          </a:stretch>
        </p:blipFill>
        <p:spPr>
          <a:xfrm>
            <a:off x="408275" y="2730275"/>
            <a:ext cx="1866900" cy="1038225"/>
          </a:xfrm>
          <a:prstGeom prst="rect">
            <a:avLst/>
          </a:prstGeom>
          <a:noFill/>
          <a:ln>
            <a:noFill/>
          </a:ln>
        </p:spPr>
      </p:pic>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 name="Google Shape;87;p17"/>
          <p:cNvSpPr txBox="1"/>
          <p:nvPr/>
        </p:nvSpPr>
        <p:spPr>
          <a:xfrm>
            <a:off x="408275" y="3953050"/>
            <a:ext cx="2052300" cy="6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dk1"/>
                </a:solidFill>
                <a:hlinkClick r:id="rId5">
                  <a:extLst>
                    <a:ext uri="{A12FA001-AC4F-418D-AE19-62706E023703}">
                      <ahyp:hlinkClr val="tx"/>
                    </a:ext>
                  </a:extLst>
                </a:hlinkClick>
              </a:rPr>
              <a:t>Big 5</a:t>
            </a:r>
            <a:br>
              <a:rPr b="1" lang="en" u="sng">
                <a:solidFill>
                  <a:schemeClr val="dk1"/>
                </a:solidFill>
                <a:hlinkClick r:id="rId6">
                  <a:extLst>
                    <a:ext uri="{A12FA001-AC4F-418D-AE19-62706E023703}">
                      <ahyp:hlinkClr val="tx"/>
                    </a:ext>
                  </a:extLst>
                </a:hlinkClick>
              </a:rPr>
            </a:br>
            <a:r>
              <a:rPr b="1" lang="en" u="sng">
                <a:solidFill>
                  <a:schemeClr val="dk1"/>
                </a:solidFill>
                <a:hlinkClick r:id="rId7">
                  <a:extLst>
                    <a:ext uri="{A12FA001-AC4F-418D-AE19-62706E023703}">
                      <ahyp:hlinkClr val="tx"/>
                    </a:ext>
                  </a:extLst>
                </a:hlinkClick>
              </a:rPr>
              <a:t>Community Packet</a:t>
            </a:r>
            <a:endParaRPr b="1">
              <a:solidFill>
                <a:schemeClr val="dk1"/>
              </a:solidFill>
            </a:endParaRPr>
          </a:p>
        </p:txBody>
      </p:sp>
      <p:sp>
        <p:nvSpPr>
          <p:cNvPr id="88" name="Google Shape;88;p17"/>
          <p:cNvSpPr/>
          <p:nvPr/>
        </p:nvSpPr>
        <p:spPr>
          <a:xfrm rot="-2230810">
            <a:off x="7233504" y="3219305"/>
            <a:ext cx="1872507" cy="755651"/>
          </a:xfrm>
          <a:prstGeom prst="leftArrow">
            <a:avLst>
              <a:gd fmla="val 50000" name="adj1"/>
              <a:gd fmla="val 50000"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Possible Action During Wildfire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3688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PVSD Wildfire Emergency Response Plan</a:t>
            </a:r>
            <a:endParaRPr/>
          </a:p>
        </p:txBody>
      </p:sp>
      <p:sp>
        <p:nvSpPr>
          <p:cNvPr id="94" name="Google Shape;94;p18"/>
          <p:cNvSpPr txBox="1"/>
          <p:nvPr>
            <p:ph idx="1" type="body"/>
          </p:nvPr>
        </p:nvSpPr>
        <p:spPr>
          <a:xfrm>
            <a:off x="438975" y="865325"/>
            <a:ext cx="44403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dk1"/>
                </a:solidFill>
                <a:latin typeface="Didact Gothic"/>
                <a:ea typeface="Didact Gothic"/>
                <a:cs typeface="Didact Gothic"/>
                <a:sym typeface="Didact Gothic"/>
              </a:rPr>
              <a:t>The purpose of this plan is to provide for the orderly and coordinated evacuation of PVSD facilities once it is determined that such action is the most effective means available for protecting students and staff from the effects of an emergency situation.</a:t>
            </a:r>
            <a:endParaRPr sz="1100">
              <a:solidFill>
                <a:schemeClr val="dk1"/>
              </a:solidFill>
              <a:latin typeface="Didact Gothic"/>
              <a:ea typeface="Didact Gothic"/>
              <a:cs typeface="Didact Gothic"/>
              <a:sym typeface="Didact Gothic"/>
            </a:endParaRPr>
          </a:p>
          <a:p>
            <a:pPr indent="0" lvl="0" marL="0" rtl="0" algn="l">
              <a:lnSpc>
                <a:spcPct val="150000"/>
              </a:lnSpc>
              <a:spcBef>
                <a:spcPts val="0"/>
              </a:spcBef>
              <a:spcAft>
                <a:spcPts val="0"/>
              </a:spcAft>
              <a:buNone/>
            </a:pPr>
            <a:r>
              <a:t/>
            </a:r>
            <a:endParaRPr sz="6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WILDFIRE EMERGENCY GUIDANCE TABLE</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WILDFIRE EMERGENCY DECISION TREE</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CAMPUS OVERVIEW AND MAPS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SCHOOL OVERVIEW</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TRANSPORTATION OVERVIEW</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OFF SITE EMERGENCY EVACUATION PLAN</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CONTROLLED DISMISSAL &amp; REUNIFICATION PLAN</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SHELTER-IN-PLACE PROCEDURES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SITUATIONAL AWARENESS RESOURCES</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EMERGENCY COMMUNICATIONS PLAN</a:t>
            </a:r>
            <a:endParaRPr sz="12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EMERGENCY CONTACT LIST</a:t>
            </a:r>
            <a:endParaRPr sz="1400">
              <a:solidFill>
                <a:schemeClr val="dk1"/>
              </a:solidFill>
            </a:endParaRPr>
          </a:p>
          <a:p>
            <a:pPr indent="0" lvl="0" marL="457200" rtl="0" algn="l">
              <a:lnSpc>
                <a:spcPct val="150000"/>
              </a:lnSpc>
              <a:spcBef>
                <a:spcPts val="0"/>
              </a:spcBef>
              <a:spcAft>
                <a:spcPts val="1600"/>
              </a:spcAft>
              <a:buNone/>
            </a:pPr>
            <a:r>
              <a:t/>
            </a:r>
            <a:endParaRPr/>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6" name="Google Shape;96;p18"/>
          <p:cNvPicPr preferRelativeResize="0"/>
          <p:nvPr/>
        </p:nvPicPr>
        <p:blipFill>
          <a:blip r:embed="rId3">
            <a:alphaModFix/>
          </a:blip>
          <a:stretch>
            <a:fillRect/>
          </a:stretch>
        </p:blipFill>
        <p:spPr>
          <a:xfrm>
            <a:off x="5219988" y="1284675"/>
            <a:ext cx="2738174" cy="3442650"/>
          </a:xfrm>
          <a:prstGeom prst="rect">
            <a:avLst/>
          </a:prstGeom>
          <a:noFill/>
          <a:ln>
            <a:noFill/>
          </a:ln>
        </p:spPr>
      </p:pic>
      <p:sp>
        <p:nvSpPr>
          <p:cNvPr id="97" name="Google Shape;97;p18"/>
          <p:cNvSpPr txBox="1"/>
          <p:nvPr/>
        </p:nvSpPr>
        <p:spPr>
          <a:xfrm rot="-1458982">
            <a:off x="5152498" y="3649246"/>
            <a:ext cx="3378304" cy="400256"/>
          </a:xfrm>
          <a:prstGeom prst="rect">
            <a:avLst/>
          </a:prstGeom>
          <a:solidFill>
            <a:srgbClr val="F4CC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0000"/>
                </a:solidFill>
              </a:rPr>
              <a:t>Internal Document; Revision in Process</a:t>
            </a:r>
            <a:endParaRPr>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24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Evacuation Terminology</a:t>
            </a:r>
            <a:endParaRPr/>
          </a:p>
        </p:txBody>
      </p:sp>
      <p:sp>
        <p:nvSpPr>
          <p:cNvPr id="103" name="Google Shape;103;p19"/>
          <p:cNvSpPr txBox="1"/>
          <p:nvPr>
            <p:ph idx="1" type="body"/>
          </p:nvPr>
        </p:nvSpPr>
        <p:spPr>
          <a:xfrm>
            <a:off x="311700" y="996875"/>
            <a:ext cx="8709300" cy="419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In an emergency, local officials may issue either an </a:t>
            </a:r>
            <a:r>
              <a:rPr b="1" lang="en" sz="1600">
                <a:solidFill>
                  <a:schemeClr val="dk1"/>
                </a:solidFill>
              </a:rPr>
              <a:t>evacuation warning</a:t>
            </a:r>
            <a:br>
              <a:rPr lang="en" sz="1600">
                <a:solidFill>
                  <a:schemeClr val="dk1"/>
                </a:solidFill>
              </a:rPr>
            </a:br>
            <a:r>
              <a:rPr lang="en" sz="1600">
                <a:solidFill>
                  <a:schemeClr val="dk1"/>
                </a:solidFill>
              </a:rPr>
              <a:t>or an </a:t>
            </a:r>
            <a:r>
              <a:rPr b="1" lang="en" sz="1600">
                <a:solidFill>
                  <a:schemeClr val="dk1"/>
                </a:solidFill>
              </a:rPr>
              <a:t>evacuation order.</a:t>
            </a:r>
            <a:endParaRPr b="1" sz="1600">
              <a:solidFill>
                <a:schemeClr val="dk1"/>
              </a:solidFill>
            </a:endParaRPr>
          </a:p>
          <a:p>
            <a:pPr indent="0" lvl="0" marL="0" rtl="0" algn="just">
              <a:spcBef>
                <a:spcPts val="0"/>
              </a:spcBef>
              <a:spcAft>
                <a:spcPts val="0"/>
              </a:spcAft>
              <a:buNone/>
            </a:pPr>
            <a:r>
              <a:t/>
            </a:r>
            <a:endParaRPr b="1" sz="600">
              <a:solidFill>
                <a:schemeClr val="dk1"/>
              </a:solidFill>
            </a:endParaRPr>
          </a:p>
          <a:p>
            <a:pPr indent="0" lvl="0" marL="0" rtl="0" algn="just">
              <a:spcBef>
                <a:spcPts val="0"/>
              </a:spcBef>
              <a:spcAft>
                <a:spcPts val="0"/>
              </a:spcAft>
              <a:buNone/>
            </a:pPr>
            <a:r>
              <a:rPr b="1" lang="en" sz="1700" u="sng">
                <a:solidFill>
                  <a:schemeClr val="dk1"/>
                </a:solidFill>
              </a:rPr>
              <a:t>Evacuation warning</a:t>
            </a:r>
            <a:r>
              <a:rPr b="1" lang="en" sz="1700">
                <a:solidFill>
                  <a:schemeClr val="dk1"/>
                </a:solidFill>
              </a:rPr>
              <a:t>: </a:t>
            </a:r>
            <a:endParaRPr b="1" sz="17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Alerts people in an affected area of potential threat to life and property.</a:t>
            </a:r>
            <a:endParaRPr sz="13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Considers the probability that an area will be affected within a given timeframe, and prepares</a:t>
            </a:r>
            <a:br>
              <a:rPr lang="en" sz="1300">
                <a:solidFill>
                  <a:schemeClr val="dk1"/>
                </a:solidFill>
              </a:rPr>
            </a:br>
            <a:r>
              <a:rPr lang="en" sz="1300">
                <a:solidFill>
                  <a:schemeClr val="dk1"/>
                </a:solidFill>
              </a:rPr>
              <a:t>people for a potential evacuation order. </a:t>
            </a:r>
            <a:endParaRPr sz="1300">
              <a:solidFill>
                <a:schemeClr val="dk1"/>
              </a:solidFill>
            </a:endParaRPr>
          </a:p>
          <a:p>
            <a:pPr indent="-311150" lvl="0" marL="457200" rtl="0" algn="just">
              <a:spcBef>
                <a:spcPts val="0"/>
              </a:spcBef>
              <a:spcAft>
                <a:spcPts val="0"/>
              </a:spcAft>
              <a:buClr>
                <a:schemeClr val="dk1"/>
              </a:buClr>
              <a:buSzPts val="1300"/>
              <a:buChar char="●"/>
            </a:pPr>
            <a:r>
              <a:rPr lang="en" sz="1300">
                <a:solidFill>
                  <a:schemeClr val="dk1"/>
                </a:solidFill>
              </a:rPr>
              <a:t>Is particularly necessary when dealing with a variety of issues such as large school populations.</a:t>
            </a:r>
            <a:endParaRPr sz="1300">
              <a:solidFill>
                <a:schemeClr val="dk1"/>
              </a:solidFill>
            </a:endParaRPr>
          </a:p>
          <a:p>
            <a:pPr indent="0" lvl="0" marL="0" rtl="0" algn="just">
              <a:spcBef>
                <a:spcPts val="0"/>
              </a:spcBef>
              <a:spcAft>
                <a:spcPts val="0"/>
              </a:spcAft>
              <a:buNone/>
            </a:pPr>
            <a:r>
              <a:t/>
            </a:r>
            <a:endParaRPr sz="1000">
              <a:solidFill>
                <a:schemeClr val="dk1"/>
              </a:solidFill>
            </a:endParaRPr>
          </a:p>
          <a:p>
            <a:pPr indent="0" lvl="0" marL="0" rtl="0" algn="l">
              <a:spcBef>
                <a:spcPts val="0"/>
              </a:spcBef>
              <a:spcAft>
                <a:spcPts val="0"/>
              </a:spcAft>
              <a:buNone/>
            </a:pPr>
            <a:r>
              <a:rPr b="1" i="1" lang="en" sz="1700">
                <a:solidFill>
                  <a:srgbClr val="A61C00"/>
                </a:solidFill>
              </a:rPr>
              <a:t>In a fast-moving fire there may not be time for first responders to issue an </a:t>
            </a:r>
            <a:r>
              <a:rPr b="1" i="1" lang="en" sz="1700" u="sng">
                <a:solidFill>
                  <a:srgbClr val="A61C00"/>
                </a:solidFill>
              </a:rPr>
              <a:t>evacuation warning</a:t>
            </a:r>
            <a:r>
              <a:rPr b="1" i="1" lang="en" sz="1700">
                <a:solidFill>
                  <a:srgbClr val="A61C00"/>
                </a:solidFill>
              </a:rPr>
              <a:t> (prepare to evacuate).</a:t>
            </a:r>
            <a:endParaRPr b="1" sz="1700">
              <a:solidFill>
                <a:srgbClr val="A61C00"/>
              </a:solidFill>
            </a:endParaRPr>
          </a:p>
          <a:p>
            <a:pPr indent="0" lvl="0" marL="0" rtl="0" algn="just">
              <a:spcBef>
                <a:spcPts val="0"/>
              </a:spcBef>
              <a:spcAft>
                <a:spcPts val="0"/>
              </a:spcAft>
              <a:buNone/>
            </a:pPr>
            <a:r>
              <a:t/>
            </a:r>
            <a:endParaRPr b="1" sz="1600">
              <a:solidFill>
                <a:schemeClr val="dk1"/>
              </a:solidFill>
            </a:endParaRPr>
          </a:p>
          <a:p>
            <a:pPr indent="0" lvl="0" marL="0" rtl="0" algn="just">
              <a:spcBef>
                <a:spcPts val="0"/>
              </a:spcBef>
              <a:spcAft>
                <a:spcPts val="0"/>
              </a:spcAft>
              <a:buNone/>
            </a:pPr>
            <a:r>
              <a:rPr b="1" lang="en" sz="1700" u="sng">
                <a:solidFill>
                  <a:schemeClr val="dk1"/>
                </a:solidFill>
              </a:rPr>
              <a:t>Evacuation order</a:t>
            </a:r>
            <a:r>
              <a:rPr b="1" lang="en" sz="1700">
                <a:solidFill>
                  <a:schemeClr val="dk1"/>
                </a:solidFill>
              </a:rPr>
              <a:t>: </a:t>
            </a:r>
            <a:endParaRPr sz="1700">
              <a:solidFill>
                <a:schemeClr val="dk1"/>
              </a:solidFill>
            </a:endParaRPr>
          </a:p>
          <a:p>
            <a:pPr indent="-323850" lvl="0" marL="457200" rtl="0" algn="just">
              <a:spcBef>
                <a:spcPts val="0"/>
              </a:spcBef>
              <a:spcAft>
                <a:spcPts val="0"/>
              </a:spcAft>
              <a:buClr>
                <a:srgbClr val="FF0000"/>
              </a:buClr>
              <a:buSzPts val="1500"/>
              <a:buChar char="●"/>
            </a:pPr>
            <a:r>
              <a:rPr b="1" lang="en" sz="1500">
                <a:solidFill>
                  <a:srgbClr val="FF0000"/>
                </a:solidFill>
              </a:rPr>
              <a:t>Requires immediate movement of people out of an affected area due to an imminent threat to life.</a:t>
            </a:r>
            <a:endParaRPr b="1" sz="1500">
              <a:solidFill>
                <a:srgbClr val="FF0000"/>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1600"/>
              </a:spcAft>
              <a:buNone/>
            </a:pPr>
            <a:r>
              <a:t/>
            </a:r>
            <a:endParaRPr sz="1400"/>
          </a:p>
        </p:txBody>
      </p:sp>
      <p:sp>
        <p:nvSpPr>
          <p:cNvPr id="104" name="Google Shape;104;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176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Shelter in Place (During Fast Approaching Wildfire)</a:t>
            </a:r>
            <a:endParaRPr/>
          </a:p>
        </p:txBody>
      </p:sp>
      <p:sp>
        <p:nvSpPr>
          <p:cNvPr id="110" name="Google Shape;110;p20"/>
          <p:cNvSpPr txBox="1"/>
          <p:nvPr>
            <p:ph idx="1" type="body"/>
          </p:nvPr>
        </p:nvSpPr>
        <p:spPr>
          <a:xfrm>
            <a:off x="406400" y="874500"/>
            <a:ext cx="8215200" cy="3587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a:solidFill>
                  <a:schemeClr val="dk1"/>
                </a:solidFill>
              </a:rPr>
              <a:t>Sheltering in place is an emergency-driven alternative which is seldom under the best of circumstances, but must be considered when evacuation of the site is not an option.</a:t>
            </a:r>
            <a:endParaRPr>
              <a:solidFill>
                <a:schemeClr val="dk1"/>
              </a:solidFill>
            </a:endParaRPr>
          </a:p>
          <a:p>
            <a:pPr indent="0" lvl="0" marL="0" rtl="0" algn="just">
              <a:spcBef>
                <a:spcPts val="0"/>
              </a:spcBef>
              <a:spcAft>
                <a:spcPts val="0"/>
              </a:spcAft>
              <a:buClr>
                <a:schemeClr val="dk1"/>
              </a:buClr>
              <a:buSzPts val="1100"/>
              <a:buFont typeface="Arial"/>
              <a:buNone/>
            </a:pPr>
            <a:r>
              <a:t/>
            </a:r>
            <a:endParaRPr>
              <a:solidFill>
                <a:schemeClr val="dk1"/>
              </a:solidFill>
            </a:endParaRPr>
          </a:p>
          <a:p>
            <a:pPr indent="0" lvl="0" marL="0" rtl="0" algn="just">
              <a:spcBef>
                <a:spcPts val="0"/>
              </a:spcBef>
              <a:spcAft>
                <a:spcPts val="0"/>
              </a:spcAft>
              <a:buClr>
                <a:schemeClr val="dk1"/>
              </a:buClr>
              <a:buSzPts val="1100"/>
              <a:buFont typeface="Arial"/>
              <a:buNone/>
            </a:pPr>
            <a:r>
              <a:rPr b="1" lang="en">
                <a:solidFill>
                  <a:srgbClr val="A61C00"/>
                </a:solidFill>
              </a:rPr>
              <a:t>This may be the most appropriate protective action during a fast moving, approaching wildfire, when leaving school grounds poses more of a danger than remaining in place.</a:t>
            </a:r>
            <a:r>
              <a:rPr b="1" lang="en">
                <a:solidFill>
                  <a:schemeClr val="dk1"/>
                </a:solidFill>
              </a:rPr>
              <a:t> </a:t>
            </a:r>
            <a:endParaRPr b="1">
              <a:solidFill>
                <a:schemeClr val="dk1"/>
              </a:solidFill>
            </a:endParaRPr>
          </a:p>
          <a:p>
            <a:pPr indent="0" lvl="0" marL="0" rtl="0" algn="just">
              <a:spcBef>
                <a:spcPts val="0"/>
              </a:spcBef>
              <a:spcAft>
                <a:spcPts val="0"/>
              </a:spcAft>
              <a:buClr>
                <a:schemeClr val="dk1"/>
              </a:buClr>
              <a:buSzPts val="1100"/>
              <a:buFont typeface="Arial"/>
              <a:buNone/>
            </a:pPr>
            <a:r>
              <a:t/>
            </a:r>
            <a:endParaRPr>
              <a:solidFill>
                <a:schemeClr val="dk1"/>
              </a:solidFill>
            </a:endParaRPr>
          </a:p>
          <a:p>
            <a:pPr indent="0" lvl="0" marL="0" rtl="0" algn="just">
              <a:spcBef>
                <a:spcPts val="0"/>
              </a:spcBef>
              <a:spcAft>
                <a:spcPts val="0"/>
              </a:spcAft>
              <a:buClr>
                <a:schemeClr val="dk1"/>
              </a:buClr>
              <a:buSzPts val="1100"/>
              <a:buFont typeface="Arial"/>
              <a:buNone/>
            </a:pPr>
            <a:r>
              <a:rPr lang="en">
                <a:solidFill>
                  <a:schemeClr val="dk1"/>
                </a:solidFill>
              </a:rPr>
              <a:t>When an evacuation may put students and staff at greater risk, it may be necessary to </a:t>
            </a:r>
            <a:r>
              <a:rPr b="1" lang="en">
                <a:solidFill>
                  <a:schemeClr val="dk1"/>
                </a:solidFill>
              </a:rPr>
              <a:t>shelter-in-place</a:t>
            </a:r>
            <a:r>
              <a:rPr lang="en">
                <a:solidFill>
                  <a:schemeClr val="dk1"/>
                </a:solidFill>
              </a:rPr>
              <a:t>. </a:t>
            </a:r>
            <a:endParaRPr b="1">
              <a:solidFill>
                <a:schemeClr val="dk1"/>
              </a:solidFill>
            </a:endParaRPr>
          </a:p>
          <a:p>
            <a:pPr indent="0" lvl="0" marL="0" rtl="0" algn="just">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1600"/>
              </a:spcAft>
              <a:buNone/>
            </a:pPr>
            <a:r>
              <a:rPr b="1" lang="en">
                <a:solidFill>
                  <a:schemeClr val="dk1"/>
                </a:solidFill>
              </a:rPr>
              <a:t>Designated </a:t>
            </a:r>
            <a:r>
              <a:rPr b="1" lang="en">
                <a:solidFill>
                  <a:schemeClr val="dk1"/>
                </a:solidFill>
              </a:rPr>
              <a:t>Shelter in Place</a:t>
            </a:r>
            <a:r>
              <a:rPr b="1" lang="en">
                <a:solidFill>
                  <a:schemeClr val="dk1"/>
                </a:solidFill>
              </a:rPr>
              <a:t> locations</a:t>
            </a:r>
            <a:r>
              <a:rPr b="1" lang="en">
                <a:solidFill>
                  <a:schemeClr val="dk1"/>
                </a:solidFill>
              </a:rPr>
              <a:t> at each school are the </a:t>
            </a:r>
            <a:r>
              <a:rPr b="1" lang="en">
                <a:solidFill>
                  <a:srgbClr val="A61C00"/>
                </a:solidFill>
              </a:rPr>
              <a:t>Multi-Use Rooms</a:t>
            </a:r>
            <a:r>
              <a:rPr b="1" lang="en">
                <a:solidFill>
                  <a:schemeClr val="dk1"/>
                </a:solidFill>
              </a:rPr>
              <a:t>.</a:t>
            </a:r>
            <a:endParaRPr b="1" sz="2100"/>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1764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Voluntary Evacuation/Unplanned Dismissal/ Precautionary Closure</a:t>
            </a:r>
            <a:endParaRPr/>
          </a:p>
        </p:txBody>
      </p:sp>
      <p:sp>
        <p:nvSpPr>
          <p:cNvPr id="117" name="Google Shape;117;p21"/>
          <p:cNvSpPr txBox="1"/>
          <p:nvPr>
            <p:ph idx="1" type="body"/>
          </p:nvPr>
        </p:nvSpPr>
        <p:spPr>
          <a:xfrm>
            <a:off x="366300" y="1254775"/>
            <a:ext cx="8223900" cy="31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rgbClr val="000000"/>
                </a:solidFill>
              </a:rPr>
              <a:t>To best ensure the safety of staff and students, school administrators will work in conjunction with local fire and law enforcement to evaluate situations that arise relative to a school site’s unique characteristics, such as facility construction, transportation dependencies, ingress and egress options and capacity, level of defensible space around its structures, and surrounding topography. </a:t>
            </a:r>
            <a:endParaRPr sz="1600">
              <a:solidFill>
                <a:srgbClr val="000000"/>
              </a:solidFill>
            </a:endParaRPr>
          </a:p>
          <a:p>
            <a:pPr indent="0" lvl="0" marL="0" rtl="0" algn="l">
              <a:spcBef>
                <a:spcPts val="0"/>
              </a:spcBef>
              <a:spcAft>
                <a:spcPts val="0"/>
              </a:spcAft>
              <a:buClr>
                <a:schemeClr val="dk1"/>
              </a:buClr>
              <a:buSzPts val="1100"/>
              <a:buFont typeface="Arial"/>
              <a:buNone/>
            </a:pPr>
            <a:r>
              <a:t/>
            </a:r>
            <a:endParaRPr sz="1600">
              <a:solidFill>
                <a:srgbClr val="000000"/>
              </a:solidFill>
            </a:endParaRPr>
          </a:p>
          <a:p>
            <a:pPr indent="0" lvl="0" marL="0" rtl="0" algn="l">
              <a:spcBef>
                <a:spcPts val="0"/>
              </a:spcBef>
              <a:spcAft>
                <a:spcPts val="0"/>
              </a:spcAft>
              <a:buClr>
                <a:schemeClr val="dk1"/>
              </a:buClr>
              <a:buSzPts val="1100"/>
              <a:buFont typeface="Arial"/>
              <a:buNone/>
            </a:pPr>
            <a:r>
              <a:rPr b="1" lang="en" sz="1600">
                <a:solidFill>
                  <a:srgbClr val="000000"/>
                </a:solidFill>
              </a:rPr>
              <a:t>Depending on the circumstances, it may be best to issue an early dismissal and voluntarily evacuation.</a:t>
            </a:r>
            <a:endParaRPr b="1" sz="1600">
              <a:solidFill>
                <a:srgbClr val="000000"/>
              </a:solidFill>
            </a:endParaRPr>
          </a:p>
          <a:p>
            <a:pPr indent="0" lvl="0" marL="0" rtl="0" algn="l">
              <a:spcBef>
                <a:spcPts val="0"/>
              </a:spcBef>
              <a:spcAft>
                <a:spcPts val="0"/>
              </a:spcAft>
              <a:buClr>
                <a:schemeClr val="dk1"/>
              </a:buClr>
              <a:buSzPts val="1100"/>
              <a:buFont typeface="Arial"/>
              <a:buNone/>
            </a:pPr>
            <a:r>
              <a:t/>
            </a:r>
            <a:endParaRPr sz="1600">
              <a:solidFill>
                <a:srgbClr val="000000"/>
              </a:solidFill>
            </a:endParaRPr>
          </a:p>
          <a:p>
            <a:pPr indent="0" lvl="0" marL="0" rtl="0" algn="l">
              <a:spcBef>
                <a:spcPts val="0"/>
              </a:spcBef>
              <a:spcAft>
                <a:spcPts val="0"/>
              </a:spcAft>
              <a:buClr>
                <a:schemeClr val="dk1"/>
              </a:buClr>
              <a:buSzPts val="1100"/>
              <a:buFont typeface="Arial"/>
              <a:buNone/>
            </a:pPr>
            <a:r>
              <a:rPr b="1" lang="en" sz="1600">
                <a:solidFill>
                  <a:schemeClr val="dk1"/>
                </a:solidFill>
              </a:rPr>
              <a:t>The decision to</a:t>
            </a:r>
            <a:r>
              <a:rPr b="1" lang="en" sz="1600">
                <a:solidFill>
                  <a:srgbClr val="A61C00"/>
                </a:solidFill>
              </a:rPr>
              <a:t> close schools </a:t>
            </a:r>
            <a:r>
              <a:rPr b="1" lang="en" sz="1600">
                <a:solidFill>
                  <a:schemeClr val="dk1"/>
                </a:solidFill>
              </a:rPr>
              <a:t>is based on many considerations, the most important of which is the safety of students, staff, parents, and others in the community. </a:t>
            </a:r>
            <a:r>
              <a:rPr lang="en" sz="1600">
                <a:solidFill>
                  <a:schemeClr val="dk1"/>
                </a:solidFill>
              </a:rPr>
              <a:t>(See Decision Tree - slide 16)</a:t>
            </a:r>
            <a:endParaRPr sz="1600">
              <a:solidFill>
                <a:schemeClr val="dk1"/>
              </a:solidFill>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1600"/>
              </a:spcAft>
              <a:buNone/>
            </a:pPr>
            <a:r>
              <a:t/>
            </a:r>
            <a:endParaRPr/>
          </a:p>
        </p:txBody>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526475"/>
            <a:ext cx="743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Transportation</a:t>
            </a:r>
            <a:r>
              <a:rPr lang="en"/>
              <a:t> &amp; Off-Site Evacuation</a:t>
            </a:r>
            <a:endParaRPr/>
          </a:p>
        </p:txBody>
      </p:sp>
      <p:sp>
        <p:nvSpPr>
          <p:cNvPr id="124" name="Google Shape;124;p22"/>
          <p:cNvSpPr txBox="1"/>
          <p:nvPr>
            <p:ph idx="1" type="body"/>
          </p:nvPr>
        </p:nvSpPr>
        <p:spPr>
          <a:xfrm>
            <a:off x="403350" y="1170125"/>
            <a:ext cx="8337300" cy="371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The District works continually with the Town of Portola Valley, the San Mateo County Department of Emergency Management (DEM), and Woodside Fire (WFPD) to explore options to set up transportation and establish off-site assembly locations in an emergency situation.</a:t>
            </a:r>
            <a:endParaRPr>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rPr b="1" i="1" lang="en" sz="1700">
                <a:solidFill>
                  <a:srgbClr val="000000"/>
                </a:solidFill>
              </a:rPr>
              <a:t>Transportation options for all students/staff are dependent upon the situation.</a:t>
            </a:r>
            <a:endParaRPr b="1" i="1" sz="1700">
              <a:solidFill>
                <a:srgbClr val="000000"/>
              </a:solidFill>
            </a:endParaRPr>
          </a:p>
          <a:p>
            <a:pPr indent="0" lvl="0" marL="0" rtl="0" algn="l">
              <a:spcBef>
                <a:spcPts val="0"/>
              </a:spcBef>
              <a:spcAft>
                <a:spcPts val="0"/>
              </a:spcAft>
              <a:buNone/>
            </a:pPr>
            <a:r>
              <a:t/>
            </a:r>
            <a:endParaRPr b="1" i="1" sz="1700">
              <a:solidFill>
                <a:srgbClr val="000000"/>
              </a:solidFill>
            </a:endParaRPr>
          </a:p>
          <a:p>
            <a:pPr indent="0" lvl="0" marL="0" rtl="0" algn="l">
              <a:spcBef>
                <a:spcPts val="0"/>
              </a:spcBef>
              <a:spcAft>
                <a:spcPts val="0"/>
              </a:spcAft>
              <a:buNone/>
            </a:pPr>
            <a:r>
              <a:rPr b="1" i="1" lang="en" sz="1700">
                <a:solidFill>
                  <a:srgbClr val="000000"/>
                </a:solidFill>
              </a:rPr>
              <a:t>Off-site a</a:t>
            </a:r>
            <a:r>
              <a:rPr b="1" i="1" lang="en" sz="1700">
                <a:solidFill>
                  <a:srgbClr val="000000"/>
                </a:solidFill>
              </a:rPr>
              <a:t>ssembly</a:t>
            </a:r>
            <a:r>
              <a:rPr b="1" i="1" lang="en" sz="1700">
                <a:solidFill>
                  <a:srgbClr val="000000"/>
                </a:solidFill>
              </a:rPr>
              <a:t> locations are dependent on the situation.</a:t>
            </a:r>
            <a:endParaRPr b="1" i="1" sz="17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0" lvl="0" marL="0" rtl="0" algn="l">
              <a:spcBef>
                <a:spcPts val="0"/>
              </a:spcBef>
              <a:spcAft>
                <a:spcPts val="0"/>
              </a:spcAft>
              <a:buNone/>
            </a:pPr>
            <a:r>
              <a:t/>
            </a:r>
            <a:endParaRPr sz="1600">
              <a:solidFill>
                <a:srgbClr val="000000"/>
              </a:solidFill>
            </a:endParaRPr>
          </a:p>
        </p:txBody>
      </p:sp>
      <p:sp>
        <p:nvSpPr>
          <p:cNvPr id="125" name="Google Shape;12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Standard Reunification Method (SRM) Information for Parents</a:t>
            </a:r>
            <a:endParaRPr sz="2700"/>
          </a:p>
        </p:txBody>
      </p:sp>
      <p:sp>
        <p:nvSpPr>
          <p:cNvPr id="131" name="Google Shape;131;p23"/>
          <p:cNvSpPr txBox="1"/>
          <p:nvPr>
            <p:ph idx="1" type="body"/>
          </p:nvPr>
        </p:nvSpPr>
        <p:spPr>
          <a:xfrm>
            <a:off x="311700" y="12468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SRM r</a:t>
            </a:r>
            <a:r>
              <a:rPr lang="en"/>
              <a:t>eunification process that will be utilized by the PVSD is:</a:t>
            </a:r>
            <a:endParaRPr/>
          </a:p>
          <a:p>
            <a:pPr indent="-342900" lvl="0" marL="457200" rtl="0" algn="l">
              <a:spcBef>
                <a:spcPts val="1600"/>
              </a:spcBef>
              <a:spcAft>
                <a:spcPts val="0"/>
              </a:spcAft>
              <a:buClr>
                <a:schemeClr val="dk1"/>
              </a:buClr>
              <a:buSzPts val="1800"/>
              <a:buChar char="●"/>
            </a:pPr>
            <a:r>
              <a:rPr b="1" lang="en">
                <a:solidFill>
                  <a:schemeClr val="dk1"/>
                </a:solidFill>
              </a:rPr>
              <a:t>Notification</a:t>
            </a:r>
            <a:r>
              <a:rPr lang="en">
                <a:solidFill>
                  <a:schemeClr val="dk1"/>
                </a:solidFill>
              </a:rPr>
              <a:t>: parents will receive a phone or text message.</a:t>
            </a:r>
            <a:br>
              <a:rPr lang="en">
                <a:solidFill>
                  <a:schemeClr val="dk1"/>
                </a:solidFill>
              </a:rPr>
            </a:br>
            <a:r>
              <a:rPr lang="en">
                <a:solidFill>
                  <a:schemeClr val="dk1"/>
                </a:solidFill>
              </a:rPr>
              <a:t>“</a:t>
            </a:r>
            <a:r>
              <a:rPr i="1" lang="en">
                <a:solidFill>
                  <a:schemeClr val="dk1"/>
                </a:solidFill>
              </a:rPr>
              <a:t>Due to XXX, the school has closed, please pick up your child at XXX location. Bring your ID.”</a:t>
            </a:r>
            <a:br>
              <a:rPr i="1" lang="en">
                <a:solidFill>
                  <a:schemeClr val="dk1"/>
                </a:solidFill>
              </a:rPr>
            </a:br>
            <a:endParaRPr i="1">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Parent/guardian </a:t>
            </a:r>
            <a:r>
              <a:rPr b="1" lang="en">
                <a:solidFill>
                  <a:schemeClr val="dk1"/>
                </a:solidFill>
              </a:rPr>
              <a:t>Expectations</a:t>
            </a:r>
            <a:r>
              <a:rPr lang="en">
                <a:solidFill>
                  <a:schemeClr val="dk1"/>
                </a:solidFill>
              </a:rPr>
              <a:t>: </a:t>
            </a:r>
            <a:endParaRPr>
              <a:solidFill>
                <a:schemeClr val="dk1"/>
              </a:solidFill>
            </a:endParaRPr>
          </a:p>
          <a:p>
            <a:pPr indent="-228600" lvl="1" marL="914400" rtl="0" algn="l">
              <a:spcBef>
                <a:spcPts val="0"/>
              </a:spcBef>
              <a:spcAft>
                <a:spcPts val="0"/>
              </a:spcAft>
              <a:buClr>
                <a:schemeClr val="dk1"/>
              </a:buClr>
              <a:buSzPts val="1800"/>
              <a:buAutoNum type="alphaLcPeriod"/>
            </a:pPr>
            <a:r>
              <a:rPr lang="en" sz="1800">
                <a:solidFill>
                  <a:schemeClr val="dk1"/>
                </a:solidFill>
              </a:rPr>
              <a:t>Bring identification</a:t>
            </a:r>
            <a:endParaRPr sz="1800">
              <a:solidFill>
                <a:schemeClr val="dk1"/>
              </a:solidFill>
            </a:endParaRPr>
          </a:p>
          <a:p>
            <a:pPr indent="-228600" lvl="1" marL="914400" rtl="0" algn="l">
              <a:spcBef>
                <a:spcPts val="0"/>
              </a:spcBef>
              <a:spcAft>
                <a:spcPts val="0"/>
              </a:spcAft>
              <a:buClr>
                <a:schemeClr val="dk1"/>
              </a:buClr>
              <a:buSzPts val="1800"/>
              <a:buAutoNum type="alphaLcPeriod"/>
            </a:pPr>
            <a:r>
              <a:rPr lang="en" sz="1800">
                <a:solidFill>
                  <a:schemeClr val="dk1"/>
                </a:solidFill>
              </a:rPr>
              <a:t>Be patient</a:t>
            </a:r>
            <a:endParaRPr sz="1800">
              <a:solidFill>
                <a:schemeClr val="dk1"/>
              </a:solidFill>
            </a:endParaRPr>
          </a:p>
        </p:txBody>
      </p:sp>
      <p:sp>
        <p:nvSpPr>
          <p:cNvPr id="132" name="Google Shape;13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Standard Reunification Method Info for Parents</a:t>
            </a:r>
            <a:endParaRPr/>
          </a:p>
        </p:txBody>
      </p:sp>
      <p:sp>
        <p:nvSpPr>
          <p:cNvPr id="138" name="Google Shape;138;p24"/>
          <p:cNvSpPr txBox="1"/>
          <p:nvPr>
            <p:ph idx="1" type="body"/>
          </p:nvPr>
        </p:nvSpPr>
        <p:spPr>
          <a:xfrm>
            <a:off x="311700" y="1246825"/>
            <a:ext cx="8296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A61C00"/>
                </a:solidFill>
              </a:rPr>
              <a:t>Students will only be released to individuals previously identified as a student’s emergency contact (per PowerSchool Annual Update).</a:t>
            </a:r>
            <a:r>
              <a:rPr b="1" lang="en">
                <a:solidFill>
                  <a:schemeClr val="dk1"/>
                </a:solidFill>
              </a:rPr>
              <a:t> </a:t>
            </a:r>
            <a:r>
              <a:rPr lang="en">
                <a:solidFill>
                  <a:schemeClr val="dk1"/>
                </a:solidFill>
              </a:rPr>
              <a:t>When a parent cannot immediately go to the reunification site, </a:t>
            </a:r>
            <a:r>
              <a:rPr lang="en">
                <a:solidFill>
                  <a:schemeClr val="dk1"/>
                </a:solidFill>
              </a:rPr>
              <a:t>the school staff will hold students until parents (or designated individuals) can pick up their student.</a:t>
            </a:r>
            <a:endParaRPr>
              <a:solidFill>
                <a:schemeClr val="dk1"/>
              </a:solidFill>
            </a:endParaRPr>
          </a:p>
          <a:p>
            <a:pPr indent="0" lvl="0" marL="0" rtl="0" algn="l">
              <a:spcBef>
                <a:spcPts val="1600"/>
              </a:spcBef>
              <a:spcAft>
                <a:spcPts val="0"/>
              </a:spcAft>
              <a:buNone/>
            </a:pPr>
            <a:r>
              <a:rPr lang="en">
                <a:solidFill>
                  <a:schemeClr val="dk1"/>
                </a:solidFill>
              </a:rPr>
              <a:t>For students, the school asks that students be orderly and quiet while waiting. </a:t>
            </a:r>
            <a:endParaRPr>
              <a:solidFill>
                <a:schemeClr val="dk1"/>
              </a:solidFill>
            </a:endParaRPr>
          </a:p>
          <a:p>
            <a:pPr indent="0" lvl="0" marL="0" rtl="0" algn="l">
              <a:spcBef>
                <a:spcPts val="1600"/>
              </a:spcBef>
              <a:spcAft>
                <a:spcPts val="1600"/>
              </a:spcAft>
              <a:buNone/>
            </a:pPr>
            <a:r>
              <a:rPr b="1" lang="en">
                <a:solidFill>
                  <a:schemeClr val="dk1"/>
                </a:solidFill>
              </a:rPr>
              <a:t>Cell Phones</a:t>
            </a:r>
            <a:r>
              <a:rPr lang="en">
                <a:solidFill>
                  <a:schemeClr val="dk1"/>
                </a:solidFill>
              </a:rPr>
              <a:t>: </a:t>
            </a:r>
            <a:r>
              <a:rPr lang="en" sz="1600">
                <a:solidFill>
                  <a:schemeClr val="dk1"/>
                </a:solidFill>
              </a:rPr>
              <a:t>Keeping the cellular network usage at a minimum may be important during a reunification. Students are asked NOT to send text messages either in or out of the school or reunification area. Rarely, students may be asked to text a message to their parents or guardians</a:t>
            </a:r>
            <a:endParaRPr sz="1600">
              <a:solidFill>
                <a:schemeClr val="dk1"/>
              </a:solidFill>
            </a:endParaRPr>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SRM </a:t>
            </a:r>
            <a:r>
              <a:rPr lang="en"/>
              <a:t>Student Release Process for Parents</a:t>
            </a:r>
            <a:endParaRPr i="1"/>
          </a:p>
        </p:txBody>
      </p:sp>
      <p:sp>
        <p:nvSpPr>
          <p:cNvPr id="145" name="Google Shape;145;p25"/>
          <p:cNvSpPr txBox="1"/>
          <p:nvPr>
            <p:ph idx="1" type="body"/>
          </p:nvPr>
        </p:nvSpPr>
        <p:spPr>
          <a:xfrm>
            <a:off x="311700" y="1092200"/>
            <a:ext cx="82965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AutoNum type="arabicPeriod"/>
            </a:pPr>
            <a:r>
              <a:rPr lang="en" sz="1600">
                <a:solidFill>
                  <a:srgbClr val="000000"/>
                </a:solidFill>
              </a:rPr>
              <a:t>Go to </a:t>
            </a:r>
            <a:r>
              <a:rPr b="1" lang="en" sz="1600">
                <a:solidFill>
                  <a:srgbClr val="000000"/>
                </a:solidFill>
              </a:rPr>
              <a:t>Reunification “Check In” area</a:t>
            </a:r>
            <a:r>
              <a:rPr lang="en" sz="1600">
                <a:solidFill>
                  <a:srgbClr val="000000"/>
                </a:solidFill>
              </a:rPr>
              <a:t> and form lines based on the first letter of student’s last name. </a:t>
            </a:r>
            <a:endParaRPr sz="1600">
              <a:solidFill>
                <a:srgbClr val="000000"/>
              </a:solidFill>
            </a:endParaRPr>
          </a:p>
          <a:p>
            <a:pPr indent="-330200" lvl="0" marL="457200" rtl="0" algn="l">
              <a:spcBef>
                <a:spcPts val="0"/>
              </a:spcBef>
              <a:spcAft>
                <a:spcPts val="0"/>
              </a:spcAft>
              <a:buClr>
                <a:srgbClr val="000000"/>
              </a:buClr>
              <a:buSzPts val="1600"/>
              <a:buAutoNum type="arabicPeriod"/>
            </a:pPr>
            <a:r>
              <a:rPr lang="en" sz="1600">
                <a:solidFill>
                  <a:srgbClr val="000000"/>
                </a:solidFill>
              </a:rPr>
              <a:t>While in line, fill out a </a:t>
            </a:r>
            <a:r>
              <a:rPr b="1" lang="en" sz="1600">
                <a:solidFill>
                  <a:srgbClr val="000000"/>
                </a:solidFill>
              </a:rPr>
              <a:t>reunification card</a:t>
            </a:r>
            <a:r>
              <a:rPr lang="en" sz="1600">
                <a:solidFill>
                  <a:srgbClr val="000000"/>
                </a:solidFill>
              </a:rPr>
              <a:t>.</a:t>
            </a:r>
            <a:r>
              <a:rPr lang="en" sz="1600">
                <a:solidFill>
                  <a:srgbClr val="000000"/>
                </a:solidFill>
              </a:rPr>
              <a:t> (</a:t>
            </a:r>
            <a:r>
              <a:rPr lang="en" sz="1600">
                <a:solidFill>
                  <a:srgbClr val="000000"/>
                </a:solidFill>
              </a:rPr>
              <a:t>This card will be provided at the time. It is perforated and will be separated during the process. Some of the same information is repeated on both the top and separated bottom of the card.) </a:t>
            </a:r>
            <a:r>
              <a:rPr lang="en" sz="1600">
                <a:solidFill>
                  <a:srgbClr val="000000"/>
                </a:solidFill>
              </a:rPr>
              <a:t>Parents are asked to complete all parts of the card. In the case of multiple students being reunified, a separate card for each student needs to be completed. </a:t>
            </a:r>
            <a:endParaRPr sz="1600">
              <a:solidFill>
                <a:srgbClr val="000000"/>
              </a:solidFill>
            </a:endParaRPr>
          </a:p>
          <a:p>
            <a:pPr indent="-330200" lvl="0" marL="457200" rtl="0" algn="l">
              <a:spcBef>
                <a:spcPts val="0"/>
              </a:spcBef>
              <a:spcAft>
                <a:spcPts val="0"/>
              </a:spcAft>
              <a:buClr>
                <a:srgbClr val="000000"/>
              </a:buClr>
              <a:buSzPts val="1600"/>
              <a:buAutoNum type="arabicPeriod"/>
            </a:pPr>
            <a:r>
              <a:rPr lang="en" sz="1600">
                <a:solidFill>
                  <a:srgbClr val="000000"/>
                </a:solidFill>
              </a:rPr>
              <a:t>During check in, picture </a:t>
            </a:r>
            <a:r>
              <a:rPr b="1" lang="en" sz="1600">
                <a:solidFill>
                  <a:srgbClr val="000000"/>
                </a:solidFill>
              </a:rPr>
              <a:t>identification</a:t>
            </a:r>
            <a:r>
              <a:rPr lang="en" sz="1600">
                <a:solidFill>
                  <a:srgbClr val="000000"/>
                </a:solidFill>
              </a:rPr>
              <a:t> </a:t>
            </a:r>
            <a:r>
              <a:rPr lang="en" sz="1600">
                <a:solidFill>
                  <a:srgbClr val="000000"/>
                </a:solidFill>
              </a:rPr>
              <a:t>will be verified.</a:t>
            </a:r>
            <a:r>
              <a:rPr lang="en" sz="1600">
                <a:solidFill>
                  <a:srgbClr val="000000"/>
                </a:solidFill>
              </a:rPr>
              <a:t> The card will be separated and the bottom half given back to the parent. </a:t>
            </a:r>
            <a:endParaRPr sz="1600">
              <a:solidFill>
                <a:srgbClr val="000000"/>
              </a:solidFill>
            </a:endParaRPr>
          </a:p>
          <a:p>
            <a:pPr indent="-330200" lvl="0" marL="457200" rtl="0" algn="l">
              <a:spcBef>
                <a:spcPts val="0"/>
              </a:spcBef>
              <a:spcAft>
                <a:spcPts val="0"/>
              </a:spcAft>
              <a:buClr>
                <a:srgbClr val="000000"/>
              </a:buClr>
              <a:buSzPts val="1600"/>
              <a:buAutoNum type="arabicPeriod"/>
            </a:pPr>
            <a:r>
              <a:rPr lang="en" sz="1600">
                <a:solidFill>
                  <a:srgbClr val="000000"/>
                </a:solidFill>
              </a:rPr>
              <a:t>Go to </a:t>
            </a:r>
            <a:r>
              <a:rPr b="1" lang="en" sz="1600">
                <a:solidFill>
                  <a:srgbClr val="000000"/>
                </a:solidFill>
              </a:rPr>
              <a:t>“Reunification” area</a:t>
            </a:r>
            <a:r>
              <a:rPr lang="en" sz="1600">
                <a:solidFill>
                  <a:srgbClr val="000000"/>
                </a:solidFill>
              </a:rPr>
              <a:t>: a runner will take the bottom half of the card and take it to the </a:t>
            </a:r>
            <a:r>
              <a:rPr b="1" lang="en" sz="1600">
                <a:solidFill>
                  <a:srgbClr val="000000"/>
                </a:solidFill>
              </a:rPr>
              <a:t>Student Assembly Area </a:t>
            </a:r>
            <a:r>
              <a:rPr lang="en" sz="1600">
                <a:solidFill>
                  <a:srgbClr val="000000"/>
                </a:solidFill>
              </a:rPr>
              <a:t>to recover the student or students. </a:t>
            </a:r>
            <a:endParaRPr sz="1600">
              <a:solidFill>
                <a:srgbClr val="000000"/>
              </a:solidFill>
            </a:endParaRPr>
          </a:p>
        </p:txBody>
      </p:sp>
      <p:sp>
        <p:nvSpPr>
          <p:cNvPr id="146" name="Google Shape;146;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150" name="Shape 150"/>
        <p:cNvGrpSpPr/>
        <p:nvPr/>
      </p:nvGrpSpPr>
      <p:grpSpPr>
        <a:xfrm>
          <a:off x="0" y="0"/>
          <a:ext cx="0" cy="0"/>
          <a:chOff x="0" y="0"/>
          <a:chExt cx="0" cy="0"/>
        </a:xfrm>
      </p:grpSpPr>
      <p:sp>
        <p:nvSpPr>
          <p:cNvPr id="151" name="Google Shape;151;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PVSD’s Risk Reduction</a:t>
            </a:r>
            <a:br>
              <a:rPr b="1" lang="en"/>
            </a:br>
            <a:r>
              <a:rPr b="1" lang="en"/>
              <a:t>and </a:t>
            </a:r>
            <a:r>
              <a:rPr b="1" lang="en"/>
              <a:t>Decision Tree</a:t>
            </a:r>
            <a:r>
              <a:rPr lang="en"/>
              <a:t> </a:t>
            </a:r>
            <a:endParaRPr/>
          </a:p>
        </p:txBody>
      </p:sp>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178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Wildfire Risk Reduction</a:t>
            </a:r>
            <a:r>
              <a:rPr lang="en"/>
              <a:t> in PVSD</a:t>
            </a:r>
            <a:endParaRPr/>
          </a:p>
        </p:txBody>
      </p:sp>
      <p:sp>
        <p:nvSpPr>
          <p:cNvPr id="158" name="Google Shape;158;p27"/>
          <p:cNvSpPr txBox="1"/>
          <p:nvPr>
            <p:ph idx="1" type="body"/>
          </p:nvPr>
        </p:nvSpPr>
        <p:spPr>
          <a:xfrm>
            <a:off x="311700" y="650350"/>
            <a:ext cx="8520600" cy="3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400">
                <a:solidFill>
                  <a:srgbClr val="000000"/>
                </a:solidFill>
              </a:rPr>
              <a:t>The buildings at each site are generally protected from wildfire risk and are locations for shelter in place p</a:t>
            </a:r>
            <a:r>
              <a:rPr i="1" lang="en" sz="1300">
                <a:solidFill>
                  <a:srgbClr val="000000"/>
                </a:solidFill>
              </a:rPr>
              <a:t>r</a:t>
            </a:r>
            <a:r>
              <a:rPr i="1" lang="en" sz="1400">
                <a:solidFill>
                  <a:srgbClr val="000000"/>
                </a:solidFill>
              </a:rPr>
              <a:t>otocol:</a:t>
            </a:r>
            <a:endParaRPr i="1" sz="1100">
              <a:solidFill>
                <a:srgbClr val="000000"/>
              </a:solidFill>
            </a:endParaRPr>
          </a:p>
          <a:p>
            <a:pPr indent="-317500" lvl="0" marL="342900" rtl="0" algn="l">
              <a:spcBef>
                <a:spcPts val="1600"/>
              </a:spcBef>
              <a:spcAft>
                <a:spcPts val="0"/>
              </a:spcAft>
              <a:buClr>
                <a:srgbClr val="000000"/>
              </a:buClr>
              <a:buSzPts val="1400"/>
              <a:buChar char="●"/>
            </a:pPr>
            <a:r>
              <a:rPr lang="en" sz="1400">
                <a:solidFill>
                  <a:srgbClr val="000000"/>
                </a:solidFill>
              </a:rPr>
              <a:t>Ormondale and Corte Madera modernized buildings consist of fiber cement siding and fiber cement panels with gypsum sheathing, </a:t>
            </a:r>
            <a:r>
              <a:rPr lang="en" sz="1400">
                <a:solidFill>
                  <a:schemeClr val="dk1"/>
                </a:solidFill>
              </a:rPr>
              <a:t>which are non-combustible. </a:t>
            </a:r>
            <a:endParaRPr sz="1400">
              <a:solidFill>
                <a:srgbClr val="000000"/>
              </a:solidFill>
            </a:endParaRPr>
          </a:p>
          <a:p>
            <a:pPr indent="-317500" lvl="0" marL="342900" rtl="0" algn="l">
              <a:spcBef>
                <a:spcPts val="0"/>
              </a:spcBef>
              <a:spcAft>
                <a:spcPts val="0"/>
              </a:spcAft>
              <a:buClr>
                <a:srgbClr val="000000"/>
              </a:buClr>
              <a:buSzPts val="1400"/>
              <a:buChar char="●"/>
            </a:pPr>
            <a:r>
              <a:rPr b="1" lang="en" sz="1400">
                <a:solidFill>
                  <a:srgbClr val="000000"/>
                </a:solidFill>
              </a:rPr>
              <a:t>Ventilation systems</a:t>
            </a:r>
            <a:r>
              <a:rPr lang="en" sz="1400">
                <a:solidFill>
                  <a:srgbClr val="000000"/>
                </a:solidFill>
              </a:rPr>
              <a:t> are equipped with screen mesh that reduce the possibility of embers entering combustible spaces. Vents can be closed remotely to prevent</a:t>
            </a:r>
            <a:r>
              <a:rPr lang="en" sz="1400">
                <a:solidFill>
                  <a:srgbClr val="000000"/>
                </a:solidFill>
              </a:rPr>
              <a:t> outside air from entering the building. </a:t>
            </a:r>
            <a:r>
              <a:rPr lang="en" sz="1400">
                <a:solidFill>
                  <a:srgbClr val="000000"/>
                </a:solidFill>
              </a:rPr>
              <a:t>The systems are also tied into the fire alarm/notification system.</a:t>
            </a:r>
            <a:endParaRPr sz="1400">
              <a:solidFill>
                <a:srgbClr val="000000"/>
              </a:solidFill>
            </a:endParaRPr>
          </a:p>
          <a:p>
            <a:pPr indent="-317500" lvl="0" marL="342900" rtl="0" algn="l">
              <a:spcBef>
                <a:spcPts val="0"/>
              </a:spcBef>
              <a:spcAft>
                <a:spcPts val="0"/>
              </a:spcAft>
              <a:buClr>
                <a:srgbClr val="000000"/>
              </a:buClr>
              <a:buSzPts val="1400"/>
              <a:buChar char="●"/>
            </a:pPr>
            <a:r>
              <a:rPr b="1" lang="en" sz="1400">
                <a:solidFill>
                  <a:srgbClr val="000000"/>
                </a:solidFill>
              </a:rPr>
              <a:t>Roofing </a:t>
            </a:r>
            <a:r>
              <a:rPr lang="en" sz="1400">
                <a:solidFill>
                  <a:srgbClr val="000000"/>
                </a:solidFill>
              </a:rPr>
              <a:t>at each site are adequately rated roofing systems by the National Fire Protection Agency (NFPA) and UL (Underwriters Laboratories). </a:t>
            </a:r>
            <a:endParaRPr sz="1400">
              <a:solidFill>
                <a:srgbClr val="000000"/>
              </a:solidFill>
            </a:endParaRPr>
          </a:p>
          <a:p>
            <a:pPr indent="-317500" lvl="0" marL="342900" rtl="0" algn="l">
              <a:spcBef>
                <a:spcPts val="0"/>
              </a:spcBef>
              <a:spcAft>
                <a:spcPts val="0"/>
              </a:spcAft>
              <a:buClr>
                <a:srgbClr val="000000"/>
              </a:buClr>
              <a:buSzPts val="1400"/>
              <a:buChar char="●"/>
            </a:pPr>
            <a:r>
              <a:rPr b="1" lang="en" sz="1400">
                <a:solidFill>
                  <a:srgbClr val="000000"/>
                </a:solidFill>
              </a:rPr>
              <a:t>New buildings</a:t>
            </a:r>
            <a:r>
              <a:rPr lang="en" sz="1400">
                <a:solidFill>
                  <a:srgbClr val="000000"/>
                </a:solidFill>
              </a:rPr>
              <a:t> </a:t>
            </a:r>
            <a:r>
              <a:rPr lang="en" sz="1400">
                <a:solidFill>
                  <a:schemeClr val="dk1"/>
                </a:solidFill>
              </a:rPr>
              <a:t>are fully compliant with building code Chapter 7A (formerly called the “Wildland/Urban Interface”), which is intended to govern high-fire-danger areas. Building materials are non-combustible except as noted by code 7A. The majority of visible wood is fire-resistance treated, the siding is non-combustible, the roofs are non-combustible, gutters and attic vents are protected as required, and the glass is tempered as required. </a:t>
            </a:r>
            <a:r>
              <a:rPr b="1" lang="en" sz="1400">
                <a:solidFill>
                  <a:srgbClr val="85200C"/>
                </a:solidFill>
              </a:rPr>
              <a:t>The buildings were not intended to be shelters such as essential services buildings, but they are designed to resist ignition and propagation as code requires.</a:t>
            </a:r>
            <a:endParaRPr b="1" sz="1400">
              <a:solidFill>
                <a:srgbClr val="85200C"/>
              </a:solidFill>
            </a:endParaRPr>
          </a:p>
          <a:p>
            <a:pPr indent="0" lvl="0" marL="0" rtl="0" algn="l">
              <a:spcBef>
                <a:spcPts val="1600"/>
              </a:spcBef>
              <a:spcAft>
                <a:spcPts val="1600"/>
              </a:spcAft>
              <a:buNone/>
            </a:pPr>
            <a:r>
              <a:t/>
            </a:r>
            <a:endParaRPr sz="1400">
              <a:solidFill>
                <a:srgbClr val="000000"/>
              </a:solidFill>
            </a:endParaRPr>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311700" y="2549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Wildfire Risk Reduction</a:t>
            </a:r>
            <a:r>
              <a:rPr lang="en"/>
              <a:t> in PVSD</a:t>
            </a:r>
            <a:endParaRPr/>
          </a:p>
        </p:txBody>
      </p:sp>
      <p:sp>
        <p:nvSpPr>
          <p:cNvPr id="165" name="Google Shape;165;p28"/>
          <p:cNvSpPr txBox="1"/>
          <p:nvPr>
            <p:ph idx="1" type="body"/>
          </p:nvPr>
        </p:nvSpPr>
        <p:spPr>
          <a:xfrm>
            <a:off x="431400" y="1037950"/>
            <a:ext cx="8400900" cy="386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rPr>
              <a:t>D</a:t>
            </a:r>
            <a:r>
              <a:rPr b="1" lang="en" sz="1600">
                <a:solidFill>
                  <a:srgbClr val="000000"/>
                </a:solidFill>
              </a:rPr>
              <a:t>efensible</a:t>
            </a:r>
            <a:r>
              <a:rPr b="1" lang="en" sz="1600">
                <a:solidFill>
                  <a:srgbClr val="000000"/>
                </a:solidFill>
              </a:rPr>
              <a:t> space </a:t>
            </a:r>
            <a:r>
              <a:rPr lang="en" sz="1600">
                <a:solidFill>
                  <a:srgbClr val="000000"/>
                </a:solidFill>
              </a:rPr>
              <a:t>surrounds each of the campuses, and the District continues to clear </a:t>
            </a:r>
            <a:r>
              <a:rPr lang="en" sz="1600">
                <a:solidFill>
                  <a:srgbClr val="000000"/>
                </a:solidFill>
              </a:rPr>
              <a:t>unnecessary/unwanted</a:t>
            </a:r>
            <a:r>
              <a:rPr lang="en" sz="1600">
                <a:solidFill>
                  <a:srgbClr val="000000"/>
                </a:solidFill>
              </a:rPr>
              <a:t> vegetation throughout the campus</a:t>
            </a:r>
            <a:r>
              <a:rPr lang="en" sz="1600">
                <a:solidFill>
                  <a:srgbClr val="000000"/>
                </a:solidFill>
              </a:rPr>
              <a:t>es.</a:t>
            </a:r>
            <a:endParaRPr sz="1600">
              <a:solidFill>
                <a:srgbClr val="000000"/>
              </a:solidFill>
            </a:endParaRPr>
          </a:p>
          <a:p>
            <a:pPr indent="0" lvl="0" marL="0" rtl="0" algn="l">
              <a:spcBef>
                <a:spcPts val="1600"/>
              </a:spcBef>
              <a:spcAft>
                <a:spcPts val="0"/>
              </a:spcAft>
              <a:buNone/>
            </a:pPr>
            <a:r>
              <a:rPr lang="en" sz="1600">
                <a:solidFill>
                  <a:srgbClr val="000000"/>
                </a:solidFill>
              </a:rPr>
              <a:t>The District will continue to repair damaged vent screens and add screens as necessary, repair damaged siding and roofing as well as keep brush and unwanted vegetation to a minimum throughout the campuses.</a:t>
            </a:r>
            <a:endParaRPr sz="1600">
              <a:solidFill>
                <a:srgbClr val="000000"/>
              </a:solidFill>
            </a:endParaRPr>
          </a:p>
          <a:p>
            <a:pPr indent="0" lvl="0" marL="0" rtl="0" algn="l">
              <a:spcBef>
                <a:spcPts val="1600"/>
              </a:spcBef>
              <a:spcAft>
                <a:spcPts val="1600"/>
              </a:spcAft>
              <a:buNone/>
            </a:pPr>
            <a:r>
              <a:rPr lang="en" sz="1600">
                <a:solidFill>
                  <a:srgbClr val="000000"/>
                </a:solidFill>
              </a:rPr>
              <a:t>The District has hired an arborist to do a </a:t>
            </a:r>
            <a:r>
              <a:rPr b="1" lang="en" sz="1600">
                <a:solidFill>
                  <a:srgbClr val="000000"/>
                </a:solidFill>
              </a:rPr>
              <a:t>risk assessment</a:t>
            </a:r>
            <a:r>
              <a:rPr lang="en" sz="1600">
                <a:solidFill>
                  <a:srgbClr val="000000"/>
                </a:solidFill>
              </a:rPr>
              <a:t> report on trees at Corte Madera and Ormondale. </a:t>
            </a:r>
            <a:endParaRPr sz="1600">
              <a:solidFill>
                <a:srgbClr val="000000"/>
              </a:solidFill>
            </a:endParaRPr>
          </a:p>
        </p:txBody>
      </p:sp>
      <p:sp>
        <p:nvSpPr>
          <p:cNvPr id="166" name="Google Shape;16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174600" y="0"/>
            <a:ext cx="703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PVSD </a:t>
            </a:r>
            <a:r>
              <a:rPr lang="en"/>
              <a:t>Wildfire Emergency Guidance Table</a:t>
            </a:r>
            <a:endParaRPr/>
          </a:p>
        </p:txBody>
      </p:sp>
      <p:pic>
        <p:nvPicPr>
          <p:cNvPr id="172" name="Google Shape;172;p29"/>
          <p:cNvPicPr preferRelativeResize="0"/>
          <p:nvPr/>
        </p:nvPicPr>
        <p:blipFill>
          <a:blip r:embed="rId3">
            <a:alphaModFix/>
          </a:blip>
          <a:stretch>
            <a:fillRect/>
          </a:stretch>
        </p:blipFill>
        <p:spPr>
          <a:xfrm>
            <a:off x="490225" y="572700"/>
            <a:ext cx="8063799" cy="4608900"/>
          </a:xfrm>
          <a:prstGeom prst="rect">
            <a:avLst/>
          </a:prstGeom>
          <a:noFill/>
          <a:ln>
            <a:noFill/>
          </a:ln>
        </p:spPr>
      </p:pic>
      <p:sp>
        <p:nvSpPr>
          <p:cNvPr id="173" name="Google Shape;173;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9"/>
          <p:cNvSpPr/>
          <p:nvPr/>
        </p:nvSpPr>
        <p:spPr>
          <a:xfrm rot="-1959907">
            <a:off x="139191" y="3261777"/>
            <a:ext cx="707023" cy="1205008"/>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30"/>
          <p:cNvSpPr txBox="1"/>
          <p:nvPr>
            <p:ph type="title"/>
          </p:nvPr>
        </p:nvSpPr>
        <p:spPr>
          <a:xfrm>
            <a:off x="195800" y="231450"/>
            <a:ext cx="7034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Wildfire Emergency Decision Support Tree</a:t>
            </a:r>
            <a:endParaRPr/>
          </a:p>
        </p:txBody>
      </p:sp>
      <p:pic>
        <p:nvPicPr>
          <p:cNvPr id="180" name="Google Shape;180;p30"/>
          <p:cNvPicPr preferRelativeResize="0"/>
          <p:nvPr/>
        </p:nvPicPr>
        <p:blipFill>
          <a:blip r:embed="rId3">
            <a:alphaModFix/>
          </a:blip>
          <a:stretch>
            <a:fillRect/>
          </a:stretch>
        </p:blipFill>
        <p:spPr>
          <a:xfrm>
            <a:off x="456024" y="663275"/>
            <a:ext cx="7770950" cy="4469749"/>
          </a:xfrm>
          <a:prstGeom prst="rect">
            <a:avLst/>
          </a:prstGeom>
          <a:noFill/>
          <a:ln>
            <a:noFill/>
          </a:ln>
        </p:spPr>
      </p:pic>
      <p:sp>
        <p:nvSpPr>
          <p:cNvPr id="181" name="Google Shape;181;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30"/>
          <p:cNvSpPr/>
          <p:nvPr/>
        </p:nvSpPr>
        <p:spPr>
          <a:xfrm rot="-7477649">
            <a:off x="2738034" y="3821356"/>
            <a:ext cx="706921" cy="1204962"/>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186" name="Shape 186"/>
        <p:cNvGrpSpPr/>
        <p:nvPr/>
      </p:nvGrpSpPr>
      <p:grpSpPr>
        <a:xfrm>
          <a:off x="0" y="0"/>
          <a:ext cx="0" cy="0"/>
          <a:chOff x="0" y="0"/>
          <a:chExt cx="0" cy="0"/>
        </a:xfrm>
      </p:grpSpPr>
      <p:sp>
        <p:nvSpPr>
          <p:cNvPr id="187" name="Google Shape;187;p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Communication and </a:t>
            </a:r>
            <a:endParaRPr b="1"/>
          </a:p>
          <a:p>
            <a:pPr indent="0" lvl="0" marL="0" rtl="0" algn="ctr">
              <a:spcBef>
                <a:spcPts val="0"/>
              </a:spcBef>
              <a:spcAft>
                <a:spcPts val="0"/>
              </a:spcAft>
              <a:buNone/>
            </a:pPr>
            <a:r>
              <a:rPr b="1" lang="en"/>
              <a:t>Situational Awareness</a:t>
            </a:r>
            <a:endParaRPr b="1"/>
          </a:p>
        </p:txBody>
      </p:sp>
      <p:sp>
        <p:nvSpPr>
          <p:cNvPr id="188" name="Google Shape;18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2"/>
          <p:cNvSpPr txBox="1"/>
          <p:nvPr>
            <p:ph type="title"/>
          </p:nvPr>
        </p:nvSpPr>
        <p:spPr>
          <a:xfrm>
            <a:off x="311700" y="276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Maintaining Situational Awareness</a:t>
            </a:r>
            <a:endParaRPr/>
          </a:p>
        </p:txBody>
      </p:sp>
      <p:sp>
        <p:nvSpPr>
          <p:cNvPr id="194" name="Google Shape;194;p32"/>
          <p:cNvSpPr txBox="1"/>
          <p:nvPr>
            <p:ph idx="1" type="body"/>
          </p:nvPr>
        </p:nvSpPr>
        <p:spPr>
          <a:xfrm>
            <a:off x="2578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95" name="Google Shape;195;p32">
            <a:hlinkClick r:id="rId3"/>
          </p:cNvPr>
          <p:cNvPicPr preferRelativeResize="0"/>
          <p:nvPr/>
        </p:nvPicPr>
        <p:blipFill>
          <a:blip r:embed="rId4">
            <a:alphaModFix/>
          </a:blip>
          <a:stretch>
            <a:fillRect/>
          </a:stretch>
        </p:blipFill>
        <p:spPr>
          <a:xfrm>
            <a:off x="387892" y="974015"/>
            <a:ext cx="2905125" cy="1581150"/>
          </a:xfrm>
          <a:prstGeom prst="rect">
            <a:avLst/>
          </a:prstGeom>
          <a:noFill/>
          <a:ln>
            <a:noFill/>
          </a:ln>
        </p:spPr>
      </p:pic>
      <p:pic>
        <p:nvPicPr>
          <p:cNvPr id="196" name="Google Shape;196;p32">
            <a:hlinkClick r:id="rId5"/>
          </p:cNvPr>
          <p:cNvPicPr preferRelativeResize="0"/>
          <p:nvPr/>
        </p:nvPicPr>
        <p:blipFill>
          <a:blip r:embed="rId6">
            <a:alphaModFix/>
          </a:blip>
          <a:stretch>
            <a:fillRect/>
          </a:stretch>
        </p:blipFill>
        <p:spPr>
          <a:xfrm>
            <a:off x="5901400" y="974015"/>
            <a:ext cx="2790825" cy="828675"/>
          </a:xfrm>
          <a:prstGeom prst="rect">
            <a:avLst/>
          </a:prstGeom>
          <a:noFill/>
          <a:ln>
            <a:noFill/>
          </a:ln>
        </p:spPr>
      </p:pic>
      <p:pic>
        <p:nvPicPr>
          <p:cNvPr id="197" name="Google Shape;197;p32">
            <a:hlinkClick r:id="rId7"/>
          </p:cNvPr>
          <p:cNvPicPr preferRelativeResize="0"/>
          <p:nvPr/>
        </p:nvPicPr>
        <p:blipFill>
          <a:blip r:embed="rId8">
            <a:alphaModFix/>
          </a:blip>
          <a:stretch>
            <a:fillRect/>
          </a:stretch>
        </p:blipFill>
        <p:spPr>
          <a:xfrm>
            <a:off x="3715975" y="974015"/>
            <a:ext cx="1819275" cy="1324571"/>
          </a:xfrm>
          <a:prstGeom prst="rect">
            <a:avLst/>
          </a:prstGeom>
          <a:noFill/>
          <a:ln>
            <a:noFill/>
          </a:ln>
        </p:spPr>
      </p:pic>
      <p:pic>
        <p:nvPicPr>
          <p:cNvPr id="198" name="Google Shape;198;p32">
            <a:hlinkClick r:id="rId9"/>
          </p:cNvPr>
          <p:cNvPicPr preferRelativeResize="0"/>
          <p:nvPr/>
        </p:nvPicPr>
        <p:blipFill>
          <a:blip r:embed="rId10">
            <a:alphaModFix/>
          </a:blip>
          <a:stretch>
            <a:fillRect/>
          </a:stretch>
        </p:blipFill>
        <p:spPr>
          <a:xfrm>
            <a:off x="387892" y="2782225"/>
            <a:ext cx="3914717" cy="1067650"/>
          </a:xfrm>
          <a:prstGeom prst="rect">
            <a:avLst/>
          </a:prstGeom>
          <a:noFill/>
          <a:ln>
            <a:noFill/>
          </a:ln>
        </p:spPr>
      </p:pic>
      <p:pic>
        <p:nvPicPr>
          <p:cNvPr id="199" name="Google Shape;199;p32">
            <a:hlinkClick r:id="rId11"/>
          </p:cNvPr>
          <p:cNvPicPr preferRelativeResize="0"/>
          <p:nvPr/>
        </p:nvPicPr>
        <p:blipFill>
          <a:blip r:embed="rId12">
            <a:alphaModFix/>
          </a:blip>
          <a:stretch>
            <a:fillRect/>
          </a:stretch>
        </p:blipFill>
        <p:spPr>
          <a:xfrm>
            <a:off x="387892" y="4076438"/>
            <a:ext cx="4740508" cy="828675"/>
          </a:xfrm>
          <a:prstGeom prst="rect">
            <a:avLst/>
          </a:prstGeom>
          <a:noFill/>
          <a:ln>
            <a:noFill/>
          </a:ln>
        </p:spPr>
      </p:pic>
      <p:sp>
        <p:nvSpPr>
          <p:cNvPr id="200" name="Google Shape;200;p32">
            <a:hlinkClick r:id="rId13"/>
          </p:cNvPr>
          <p:cNvSpPr txBox="1"/>
          <p:nvPr/>
        </p:nvSpPr>
        <p:spPr>
          <a:xfrm>
            <a:off x="5314225" y="4076513"/>
            <a:ext cx="3378000" cy="828600"/>
          </a:xfrm>
          <a:prstGeom prst="rect">
            <a:avLst/>
          </a:prstGeom>
          <a:solidFill>
            <a:srgbClr val="D0E0E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Portola Valley Radio 1680 AM </a:t>
            </a:r>
            <a:endParaRPr b="1" sz="1800"/>
          </a:p>
          <a:p>
            <a:pPr indent="0" lvl="0" marL="0" rtl="0" algn="l">
              <a:spcBef>
                <a:spcPts val="0"/>
              </a:spcBef>
              <a:spcAft>
                <a:spcPts val="0"/>
              </a:spcAft>
              <a:buNone/>
            </a:pPr>
            <a:r>
              <a:rPr i="1" lang="en"/>
              <a:t>Tune to radio or stream via internet</a:t>
            </a:r>
            <a:endParaRPr i="1"/>
          </a:p>
        </p:txBody>
      </p:sp>
      <p:pic>
        <p:nvPicPr>
          <p:cNvPr id="201" name="Google Shape;201;p32">
            <a:hlinkClick r:id="rId14"/>
          </p:cNvPr>
          <p:cNvPicPr preferRelativeResize="0"/>
          <p:nvPr/>
        </p:nvPicPr>
        <p:blipFill>
          <a:blip r:embed="rId15">
            <a:alphaModFix/>
          </a:blip>
          <a:stretch>
            <a:fillRect/>
          </a:stretch>
        </p:blipFill>
        <p:spPr>
          <a:xfrm>
            <a:off x="4572001" y="2539050"/>
            <a:ext cx="1909100" cy="629700"/>
          </a:xfrm>
          <a:prstGeom prst="rect">
            <a:avLst/>
          </a:prstGeom>
          <a:noFill/>
          <a:ln>
            <a:noFill/>
          </a:ln>
        </p:spPr>
      </p:pic>
      <p:pic>
        <p:nvPicPr>
          <p:cNvPr id="202" name="Google Shape;202;p32">
            <a:hlinkClick r:id="rId16"/>
          </p:cNvPr>
          <p:cNvPicPr preferRelativeResize="0"/>
          <p:nvPr/>
        </p:nvPicPr>
        <p:blipFill>
          <a:blip r:embed="rId17">
            <a:alphaModFix/>
          </a:blip>
          <a:stretch>
            <a:fillRect/>
          </a:stretch>
        </p:blipFill>
        <p:spPr>
          <a:xfrm>
            <a:off x="4505000" y="3409225"/>
            <a:ext cx="2249072" cy="482775"/>
          </a:xfrm>
          <a:prstGeom prst="rect">
            <a:avLst/>
          </a:prstGeom>
          <a:noFill/>
          <a:ln>
            <a:noFill/>
          </a:ln>
        </p:spPr>
      </p:pic>
      <p:sp>
        <p:nvSpPr>
          <p:cNvPr id="203" name="Google Shape;203;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04" name="Google Shape;204;p32">
            <a:hlinkClick r:id="rId18"/>
          </p:cNvPr>
          <p:cNvPicPr preferRelativeResize="0"/>
          <p:nvPr/>
        </p:nvPicPr>
        <p:blipFill>
          <a:blip r:embed="rId19">
            <a:alphaModFix/>
          </a:blip>
          <a:stretch>
            <a:fillRect/>
          </a:stretch>
        </p:blipFill>
        <p:spPr>
          <a:xfrm>
            <a:off x="6872950" y="2074275"/>
            <a:ext cx="1819275" cy="136268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105975" y="174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Zone Haven &amp; SMC Alerts &amp; Genasys</a:t>
            </a:r>
            <a:endParaRPr/>
          </a:p>
        </p:txBody>
      </p:sp>
      <p:sp>
        <p:nvSpPr>
          <p:cNvPr id="210" name="Google Shape;210;p3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Evacuation notices are issued through </a:t>
            </a:r>
            <a:r>
              <a:rPr lang="en" u="sng">
                <a:solidFill>
                  <a:srgbClr val="1C4587"/>
                </a:solidFill>
                <a:hlinkClick r:id="rId3">
                  <a:extLst>
                    <a:ext uri="{A12FA001-AC4F-418D-AE19-62706E023703}">
                      <ahyp:hlinkClr val="tx"/>
                    </a:ext>
                  </a:extLst>
                </a:hlinkClick>
              </a:rPr>
              <a:t>SMC Alert</a:t>
            </a:r>
            <a:r>
              <a:rPr lang="en">
                <a:solidFill>
                  <a:schemeClr val="dk1"/>
                </a:solidFill>
              </a:rPr>
              <a:t> </a:t>
            </a:r>
            <a:endParaRPr>
              <a:solidFill>
                <a:schemeClr val="dk1"/>
              </a:solidFill>
            </a:endParaRPr>
          </a:p>
          <a:p>
            <a:pPr indent="0" lvl="0" marL="0" rtl="0" algn="l">
              <a:spcBef>
                <a:spcPts val="1600"/>
              </a:spcBef>
              <a:spcAft>
                <a:spcPts val="0"/>
              </a:spcAft>
              <a:buNone/>
            </a:pPr>
            <a:r>
              <a:t/>
            </a:r>
            <a:endParaRPr>
              <a:solidFill>
                <a:schemeClr val="dk1"/>
              </a:solidFill>
            </a:endParaRPr>
          </a:p>
          <a:p>
            <a:pPr indent="0" lvl="0" marL="457200" rtl="0" algn="l">
              <a:spcBef>
                <a:spcPts val="1600"/>
              </a:spcBef>
              <a:spcAft>
                <a:spcPts val="0"/>
              </a:spcAft>
              <a:buNone/>
            </a:pPr>
            <a:r>
              <a:t/>
            </a:r>
            <a:endParaRPr>
              <a:solidFill>
                <a:schemeClr val="dk1"/>
              </a:solidFill>
            </a:endParaRPr>
          </a:p>
          <a:p>
            <a:pPr indent="-342900" lvl="0" marL="457200" rtl="0" algn="l">
              <a:spcBef>
                <a:spcPts val="1600"/>
              </a:spcBef>
              <a:spcAft>
                <a:spcPts val="0"/>
              </a:spcAft>
              <a:buClr>
                <a:schemeClr val="dk1"/>
              </a:buClr>
              <a:buSzPts val="1800"/>
              <a:buChar char="●"/>
            </a:pPr>
            <a:r>
              <a:rPr lang="en" u="sng">
                <a:solidFill>
                  <a:schemeClr val="hlink"/>
                </a:solidFill>
                <a:hlinkClick r:id="rId4"/>
              </a:rPr>
              <a:t>Genasys Protect</a:t>
            </a:r>
            <a:r>
              <a:rPr lang="en">
                <a:solidFill>
                  <a:schemeClr val="dk1"/>
                </a:solidFill>
              </a:rPr>
              <a:t>:</a:t>
            </a:r>
            <a:r>
              <a:rPr lang="en" sz="1400">
                <a:solidFill>
                  <a:srgbClr val="19213E"/>
                </a:solidFill>
              </a:rPr>
              <a:t> uses your location on the website and in the app to offer you the most relevant information in an emergency situation (replaces ZoneHaven). Download the app on your iphone NOW!</a:t>
            </a:r>
            <a:endParaRPr sz="1400">
              <a:solidFill>
                <a:schemeClr val="dk1"/>
              </a:solidFill>
            </a:endParaRPr>
          </a:p>
          <a:p>
            <a:pPr indent="0" lvl="0" marL="0" rtl="0" algn="l">
              <a:spcBef>
                <a:spcPts val="1600"/>
              </a:spcBef>
              <a:spcAft>
                <a:spcPts val="1600"/>
              </a:spcAft>
              <a:buNone/>
            </a:pPr>
            <a:r>
              <a:t/>
            </a:r>
            <a:endParaRPr/>
          </a:p>
        </p:txBody>
      </p:sp>
      <p:sp>
        <p:nvSpPr>
          <p:cNvPr id="211" name="Google Shape;21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2" name="Google Shape;212;p33"/>
          <p:cNvPicPr preferRelativeResize="0"/>
          <p:nvPr/>
        </p:nvPicPr>
        <p:blipFill>
          <a:blip r:embed="rId5">
            <a:alphaModFix/>
          </a:blip>
          <a:stretch>
            <a:fillRect/>
          </a:stretch>
        </p:blipFill>
        <p:spPr>
          <a:xfrm>
            <a:off x="872750" y="1329550"/>
            <a:ext cx="3276176" cy="572700"/>
          </a:xfrm>
          <a:prstGeom prst="rect">
            <a:avLst/>
          </a:prstGeom>
          <a:noFill/>
          <a:ln>
            <a:noFill/>
          </a:ln>
        </p:spPr>
      </p:pic>
      <p:pic>
        <p:nvPicPr>
          <p:cNvPr id="213" name="Google Shape;213;p33"/>
          <p:cNvPicPr preferRelativeResize="0"/>
          <p:nvPr/>
        </p:nvPicPr>
        <p:blipFill>
          <a:blip r:embed="rId6">
            <a:alphaModFix/>
          </a:blip>
          <a:stretch>
            <a:fillRect/>
          </a:stretch>
        </p:blipFill>
        <p:spPr>
          <a:xfrm>
            <a:off x="7062475" y="333450"/>
            <a:ext cx="1769825" cy="1757876"/>
          </a:xfrm>
          <a:prstGeom prst="rect">
            <a:avLst/>
          </a:prstGeom>
          <a:noFill/>
          <a:ln>
            <a:noFill/>
          </a:ln>
        </p:spPr>
      </p:pic>
      <p:pic>
        <p:nvPicPr>
          <p:cNvPr id="214" name="Google Shape;214;p33"/>
          <p:cNvPicPr preferRelativeResize="0"/>
          <p:nvPr/>
        </p:nvPicPr>
        <p:blipFill>
          <a:blip r:embed="rId7">
            <a:alphaModFix/>
          </a:blip>
          <a:stretch>
            <a:fillRect/>
          </a:stretch>
        </p:blipFill>
        <p:spPr>
          <a:xfrm>
            <a:off x="4512475" y="3444862"/>
            <a:ext cx="1396125" cy="1396125"/>
          </a:xfrm>
          <a:prstGeom prst="rect">
            <a:avLst/>
          </a:prstGeom>
          <a:noFill/>
          <a:ln>
            <a:noFill/>
          </a:ln>
        </p:spPr>
      </p:pic>
      <p:pic>
        <p:nvPicPr>
          <p:cNvPr id="215" name="Google Shape;215;p33"/>
          <p:cNvPicPr preferRelativeResize="0"/>
          <p:nvPr/>
        </p:nvPicPr>
        <p:blipFill>
          <a:blip r:embed="rId8">
            <a:alphaModFix/>
          </a:blip>
          <a:stretch>
            <a:fillRect/>
          </a:stretch>
        </p:blipFill>
        <p:spPr>
          <a:xfrm>
            <a:off x="2549075" y="3602713"/>
            <a:ext cx="1657350" cy="1238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type="title"/>
          </p:nvPr>
        </p:nvSpPr>
        <p:spPr>
          <a:xfrm>
            <a:off x="311700" y="1316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Emergency Communications and Maintaining Situational Awareness</a:t>
            </a:r>
            <a:endParaRPr/>
          </a:p>
        </p:txBody>
      </p:sp>
      <p:sp>
        <p:nvSpPr>
          <p:cNvPr id="221" name="Google Shape;221;p34"/>
          <p:cNvSpPr txBox="1"/>
          <p:nvPr>
            <p:ph idx="1" type="body"/>
          </p:nvPr>
        </p:nvSpPr>
        <p:spPr>
          <a:xfrm>
            <a:off x="311700" y="1162775"/>
            <a:ext cx="4227300" cy="355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rgbClr val="000000"/>
                </a:solidFill>
              </a:rPr>
              <a:t>Int</a:t>
            </a:r>
            <a:r>
              <a:rPr lang="en" sz="1600" u="sng">
                <a:solidFill>
                  <a:srgbClr val="000000"/>
                </a:solidFill>
              </a:rPr>
              <a:t>ernal (within District):</a:t>
            </a:r>
            <a:endParaRPr sz="1600" u="sng">
              <a:solidFill>
                <a:srgbClr val="000000"/>
              </a:solidFill>
            </a:endParaRPr>
          </a:p>
          <a:p>
            <a:pPr indent="-209550" lvl="0" marL="228600" rtl="0" algn="l">
              <a:spcBef>
                <a:spcPts val="1600"/>
              </a:spcBef>
              <a:spcAft>
                <a:spcPts val="0"/>
              </a:spcAft>
              <a:buClr>
                <a:schemeClr val="dk1"/>
              </a:buClr>
              <a:buSzPts val="1500"/>
              <a:buChar char="●"/>
            </a:pPr>
            <a:r>
              <a:rPr lang="en" sz="1500">
                <a:solidFill>
                  <a:schemeClr val="dk1"/>
                </a:solidFill>
              </a:rPr>
              <a:t>Public Announcement system*</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Cell and texting</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Fire Alarm System All Call</a:t>
            </a:r>
            <a:endParaRPr sz="1500">
              <a:solidFill>
                <a:schemeClr val="dk1"/>
              </a:solidFill>
            </a:endParaRPr>
          </a:p>
          <a:p>
            <a:pPr indent="-209550" lvl="0" marL="228600" rtl="0" algn="l">
              <a:spcBef>
                <a:spcPts val="0"/>
              </a:spcBef>
              <a:spcAft>
                <a:spcPts val="0"/>
              </a:spcAft>
              <a:buClr>
                <a:srgbClr val="000000"/>
              </a:buClr>
              <a:buSzPts val="1500"/>
              <a:buChar char="●"/>
            </a:pPr>
            <a:r>
              <a:rPr b="1" lang="en" sz="1500">
                <a:solidFill>
                  <a:srgbClr val="000000"/>
                </a:solidFill>
              </a:rPr>
              <a:t>Two-way radios (walkie-talkies) for each classroom</a:t>
            </a:r>
            <a:endParaRPr b="1"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Shortwave radios</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Landline telephones</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Satellite radio adapter for cell phones and Government Emergency Telecommunications Service (GETS)</a:t>
            </a:r>
            <a:endParaRPr sz="1500">
              <a:solidFill>
                <a:srgbClr val="000000"/>
              </a:solidFill>
            </a:endParaRPr>
          </a:p>
          <a:p>
            <a:pPr indent="0" lvl="0" marL="0" rtl="0" algn="l">
              <a:spcBef>
                <a:spcPts val="1600"/>
              </a:spcBef>
              <a:spcAft>
                <a:spcPts val="0"/>
              </a:spcAft>
              <a:buNone/>
            </a:pPr>
            <a:r>
              <a:rPr i="1" lang="en" sz="1300">
                <a:solidFill>
                  <a:srgbClr val="000000"/>
                </a:solidFill>
              </a:rPr>
              <a:t>* only if there is electrical power</a:t>
            </a:r>
            <a:endParaRPr i="1" sz="1300">
              <a:solidFill>
                <a:srgbClr val="000000"/>
              </a:solidFill>
            </a:endParaRPr>
          </a:p>
          <a:p>
            <a:pPr indent="0" lvl="0" marL="0" rtl="0" algn="l">
              <a:spcBef>
                <a:spcPts val="1600"/>
              </a:spcBef>
              <a:spcAft>
                <a:spcPts val="1600"/>
              </a:spcAft>
              <a:buNone/>
            </a:pPr>
            <a:r>
              <a:t/>
            </a:r>
            <a:endParaRPr/>
          </a:p>
        </p:txBody>
      </p:sp>
      <p:sp>
        <p:nvSpPr>
          <p:cNvPr id="222" name="Google Shape;222;p34"/>
          <p:cNvSpPr txBox="1"/>
          <p:nvPr>
            <p:ph idx="1" type="body"/>
          </p:nvPr>
        </p:nvSpPr>
        <p:spPr>
          <a:xfrm>
            <a:off x="4572000" y="1162775"/>
            <a:ext cx="4379100" cy="383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rgbClr val="000000"/>
                </a:solidFill>
              </a:rPr>
              <a:t>External (District to parents):</a:t>
            </a:r>
            <a:endParaRPr sz="1600" u="sng">
              <a:solidFill>
                <a:srgbClr val="000000"/>
              </a:solidFill>
            </a:endParaRPr>
          </a:p>
          <a:p>
            <a:pPr indent="-209550" lvl="0" marL="228600" rtl="0" algn="l">
              <a:spcBef>
                <a:spcPts val="1600"/>
              </a:spcBef>
              <a:spcAft>
                <a:spcPts val="0"/>
              </a:spcAft>
              <a:buClr>
                <a:srgbClr val="000000"/>
              </a:buClr>
              <a:buSzPts val="1500"/>
              <a:buChar char="●"/>
            </a:pPr>
            <a:r>
              <a:rPr lang="en" sz="1500">
                <a:solidFill>
                  <a:schemeClr val="dk1"/>
                </a:solidFill>
              </a:rPr>
              <a:t>Parent Square Urgent Alert text, email, voice mail - pulls info from PowerSchool </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PVSD website</a:t>
            </a:r>
            <a:endParaRPr sz="1500">
              <a:solidFill>
                <a:schemeClr val="dk1"/>
              </a:solidFill>
            </a:endParaRPr>
          </a:p>
          <a:p>
            <a:pPr indent="-209550" lvl="0" marL="228600" rtl="0" algn="l">
              <a:spcBef>
                <a:spcPts val="0"/>
              </a:spcBef>
              <a:spcAft>
                <a:spcPts val="0"/>
              </a:spcAft>
              <a:buClr>
                <a:srgbClr val="000000"/>
              </a:buClr>
              <a:buSzPts val="1500"/>
              <a:buChar char="●"/>
            </a:pPr>
            <a:r>
              <a:rPr lang="en" sz="1500">
                <a:solidFill>
                  <a:schemeClr val="dk1"/>
                </a:solidFill>
              </a:rPr>
              <a:t>Social Media (Instagram, Facebook)</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PV Forum and PV NextDoor</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rgbClr val="000000"/>
                </a:solidFill>
              </a:rPr>
              <a:t>Town of PV Radio 1680</a:t>
            </a:r>
            <a:endParaRPr sz="1500">
              <a:solidFill>
                <a:srgbClr val="000000"/>
              </a:solidFill>
            </a:endParaRPr>
          </a:p>
          <a:p>
            <a:pPr indent="-209550" lvl="0" marL="228600" rtl="0" algn="l">
              <a:spcBef>
                <a:spcPts val="0"/>
              </a:spcBef>
              <a:spcAft>
                <a:spcPts val="0"/>
              </a:spcAft>
              <a:buClr>
                <a:srgbClr val="000000"/>
              </a:buClr>
              <a:buSzPts val="1500"/>
              <a:buChar char="●"/>
            </a:pPr>
            <a:r>
              <a:rPr lang="en" sz="1500">
                <a:solidFill>
                  <a:schemeClr val="dk1"/>
                </a:solidFill>
              </a:rPr>
              <a:t>SM County Office of Education website</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Portola Valley Town website</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SMC Alert</a:t>
            </a:r>
            <a:endParaRPr sz="1500">
              <a:solidFill>
                <a:schemeClr val="dk1"/>
              </a:solidFill>
            </a:endParaRPr>
          </a:p>
          <a:p>
            <a:pPr indent="-209550" lvl="0" marL="228600" rtl="0" algn="l">
              <a:spcBef>
                <a:spcPts val="0"/>
              </a:spcBef>
              <a:spcAft>
                <a:spcPts val="0"/>
              </a:spcAft>
              <a:buClr>
                <a:schemeClr val="dk1"/>
              </a:buClr>
              <a:buSzPts val="1500"/>
              <a:buChar char="●"/>
            </a:pPr>
            <a:r>
              <a:rPr lang="en" sz="1500">
                <a:solidFill>
                  <a:schemeClr val="dk1"/>
                </a:solidFill>
              </a:rPr>
              <a:t>Town of PV radio communication EPC</a:t>
            </a:r>
            <a:endParaRPr sz="1500">
              <a:solidFill>
                <a:schemeClr val="dk1"/>
              </a:solidFill>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23" name="Google Shape;22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title"/>
          </p:nvPr>
        </p:nvSpPr>
        <p:spPr>
          <a:xfrm>
            <a:off x="311700" y="201275"/>
            <a:ext cx="4171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Emergency Parent Information</a:t>
            </a:r>
            <a:endParaRPr b="1"/>
          </a:p>
        </p:txBody>
      </p:sp>
      <p:sp>
        <p:nvSpPr>
          <p:cNvPr id="229" name="Google Shape;229;p35"/>
          <p:cNvSpPr txBox="1"/>
          <p:nvPr>
            <p:ph idx="1" type="body"/>
          </p:nvPr>
        </p:nvSpPr>
        <p:spPr>
          <a:xfrm>
            <a:off x="253325" y="2192350"/>
            <a:ext cx="5153700" cy="2382900"/>
          </a:xfrm>
          <a:prstGeom prst="rect">
            <a:avLst/>
          </a:prstGeom>
        </p:spPr>
        <p:txBody>
          <a:bodyPr anchorCtr="0" anchor="t" bIns="91425" lIns="91425" spcFirstLastPara="1" rIns="91425" wrap="square" tIns="91425">
            <a:noAutofit/>
          </a:bodyPr>
          <a:lstStyle/>
          <a:p>
            <a:pPr indent="-222250" lvl="0" marL="171450" rtl="0" algn="l">
              <a:spcBef>
                <a:spcPts val="0"/>
              </a:spcBef>
              <a:spcAft>
                <a:spcPts val="0"/>
              </a:spcAft>
              <a:buClr>
                <a:schemeClr val="dk1"/>
              </a:buClr>
              <a:buSzPts val="1700"/>
              <a:buChar char="●"/>
            </a:pPr>
            <a:r>
              <a:rPr lang="en" sz="1700" u="sng">
                <a:solidFill>
                  <a:schemeClr val="dk1"/>
                </a:solidFill>
                <a:hlinkClick r:id="rId3">
                  <a:extLst>
                    <a:ext uri="{A12FA001-AC4F-418D-AE19-62706E023703}">
                      <ahyp:hlinkClr val="tx"/>
                    </a:ext>
                  </a:extLst>
                </a:hlinkClick>
              </a:rPr>
              <a:t>Link</a:t>
            </a:r>
            <a:r>
              <a:rPr lang="en" sz="1700">
                <a:solidFill>
                  <a:schemeClr val="dk1"/>
                </a:solidFill>
              </a:rPr>
              <a:t> to </a:t>
            </a:r>
            <a:r>
              <a:rPr i="1" lang="en" sz="1700">
                <a:solidFill>
                  <a:schemeClr val="dk1"/>
                </a:solidFill>
              </a:rPr>
              <a:t>School Safety Plan and Parent Emergency Information (Scan QR Code for Access)</a:t>
            </a:r>
            <a:endParaRPr sz="1700">
              <a:solidFill>
                <a:schemeClr val="dk1"/>
              </a:solidFill>
            </a:endParaRPr>
          </a:p>
          <a:p>
            <a:pPr indent="-222250" lvl="0" marL="171450" rtl="0" algn="l">
              <a:spcBef>
                <a:spcPts val="1000"/>
              </a:spcBef>
              <a:spcAft>
                <a:spcPts val="1000"/>
              </a:spcAft>
              <a:buClr>
                <a:schemeClr val="dk1"/>
              </a:buClr>
              <a:buSzPts val="1700"/>
              <a:buChar char="●"/>
            </a:pPr>
            <a:r>
              <a:rPr lang="en" sz="1700">
                <a:solidFill>
                  <a:schemeClr val="dk1"/>
                </a:solidFill>
              </a:rPr>
              <a:t>Located on PVSD website (pvsd.net) homepage</a:t>
            </a:r>
            <a:endParaRPr sz="1700">
              <a:solidFill>
                <a:schemeClr val="dk1"/>
              </a:solidFill>
            </a:endParaRPr>
          </a:p>
        </p:txBody>
      </p:sp>
      <p:sp>
        <p:nvSpPr>
          <p:cNvPr id="230" name="Google Shape;230;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1" name="Google Shape;231;p35"/>
          <p:cNvPicPr preferRelativeResize="0"/>
          <p:nvPr/>
        </p:nvPicPr>
        <p:blipFill>
          <a:blip r:embed="rId4">
            <a:alphaModFix/>
          </a:blip>
          <a:stretch>
            <a:fillRect/>
          </a:stretch>
        </p:blipFill>
        <p:spPr>
          <a:xfrm>
            <a:off x="5525899" y="377275"/>
            <a:ext cx="3216574" cy="4532425"/>
          </a:xfrm>
          <a:prstGeom prst="rect">
            <a:avLst/>
          </a:prstGeom>
          <a:noFill/>
          <a:ln cap="flat" cmpd="sng" w="19050">
            <a:solidFill>
              <a:schemeClr val="dk2"/>
            </a:solidFill>
            <a:prstDash val="solid"/>
            <a:round/>
            <a:headEnd len="sm" w="sm" type="none"/>
            <a:tailEnd len="sm" w="sm" type="none"/>
          </a:ln>
        </p:spPr>
      </p:pic>
      <p:pic>
        <p:nvPicPr>
          <p:cNvPr id="232" name="Google Shape;232;p35"/>
          <p:cNvPicPr preferRelativeResize="0"/>
          <p:nvPr/>
        </p:nvPicPr>
        <p:blipFill>
          <a:blip r:embed="rId5">
            <a:alphaModFix/>
          </a:blip>
          <a:stretch>
            <a:fillRect/>
          </a:stretch>
        </p:blipFill>
        <p:spPr>
          <a:xfrm>
            <a:off x="3697125" y="377275"/>
            <a:ext cx="1653575" cy="1653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DECDB"/>
            </a:gs>
            <a:gs pos="100000">
              <a:srgbClr val="F0A963"/>
            </a:gs>
          </a:gsLst>
          <a:path path="circle">
            <a:fillToRect b="50%" l="50%" r="50%" t="50%"/>
          </a:path>
          <a:tileRect/>
        </a:gradFill>
      </p:bgPr>
    </p:bg>
    <p:spTree>
      <p:nvGrpSpPr>
        <p:cNvPr id="236" name="Shape 236"/>
        <p:cNvGrpSpPr/>
        <p:nvPr/>
      </p:nvGrpSpPr>
      <p:grpSpPr>
        <a:xfrm>
          <a:off x="0" y="0"/>
          <a:ext cx="0" cy="0"/>
          <a:chOff x="0" y="0"/>
          <a:chExt cx="0" cy="0"/>
        </a:xfrm>
      </p:grpSpPr>
      <p:sp>
        <p:nvSpPr>
          <p:cNvPr id="237" name="Google Shape;237;p3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Poor Air Quality</a:t>
            </a:r>
            <a:endParaRPr b="1"/>
          </a:p>
        </p:txBody>
      </p:sp>
      <p:sp>
        <p:nvSpPr>
          <p:cNvPr id="238" name="Google Shape;238;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9" name="Google Shape;239;p36"/>
          <p:cNvPicPr preferRelativeResize="0"/>
          <p:nvPr/>
        </p:nvPicPr>
        <p:blipFill>
          <a:blip r:embed="rId3">
            <a:alphaModFix/>
          </a:blip>
          <a:stretch>
            <a:fillRect/>
          </a:stretch>
        </p:blipFill>
        <p:spPr>
          <a:xfrm>
            <a:off x="830318" y="2992651"/>
            <a:ext cx="7483350" cy="1112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6DB"/>
            </a:gs>
            <a:gs pos="100000">
              <a:srgbClr val="FAD25C"/>
            </a:gs>
          </a:gsLst>
          <a:lin ang="5400012" scaled="0"/>
        </a:gradFill>
      </p:bgPr>
    </p:bg>
    <p:spTree>
      <p:nvGrpSpPr>
        <p:cNvPr id="243" name="Shape 243"/>
        <p:cNvGrpSpPr/>
        <p:nvPr/>
      </p:nvGrpSpPr>
      <p:grpSpPr>
        <a:xfrm>
          <a:off x="0" y="0"/>
          <a:ext cx="0" cy="0"/>
          <a:chOff x="0" y="0"/>
          <a:chExt cx="0" cy="0"/>
        </a:xfrm>
      </p:grpSpPr>
      <p:sp>
        <p:nvSpPr>
          <p:cNvPr id="244" name="Google Shape;244;p37"/>
          <p:cNvSpPr txBox="1"/>
          <p:nvPr>
            <p:ph type="title"/>
          </p:nvPr>
        </p:nvSpPr>
        <p:spPr>
          <a:xfrm>
            <a:off x="151625" y="119350"/>
            <a:ext cx="8992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Poor Air Quality: PVSD adheres to </a:t>
            </a:r>
            <a:r>
              <a:rPr lang="en" sz="2700" u="sng">
                <a:solidFill>
                  <a:schemeClr val="hlink"/>
                </a:solidFill>
                <a:hlinkClick r:id="rId3"/>
              </a:rPr>
              <a:t>SMCOE’s Guidelines</a:t>
            </a:r>
            <a:r>
              <a:rPr lang="en" u="sng">
                <a:solidFill>
                  <a:schemeClr val="hlink"/>
                </a:solidFill>
                <a:hlinkClick r:id="rId4"/>
              </a:rPr>
              <a:t> </a:t>
            </a:r>
            <a:endParaRPr/>
          </a:p>
        </p:txBody>
      </p:sp>
      <p:sp>
        <p:nvSpPr>
          <p:cNvPr id="245" name="Google Shape;245;p37"/>
          <p:cNvSpPr txBox="1"/>
          <p:nvPr>
            <p:ph idx="1" type="body"/>
          </p:nvPr>
        </p:nvSpPr>
        <p:spPr>
          <a:xfrm>
            <a:off x="62650" y="830388"/>
            <a:ext cx="8849100" cy="3482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AutoNum type="arabicPeriod"/>
            </a:pPr>
            <a:r>
              <a:rPr b="1" lang="en" sz="1400">
                <a:solidFill>
                  <a:schemeClr val="dk1"/>
                </a:solidFill>
              </a:rPr>
              <a:t>Keep Track of Air Quality:</a:t>
            </a:r>
            <a:r>
              <a:rPr lang="en" sz="1400">
                <a:solidFill>
                  <a:schemeClr val="dk1"/>
                </a:solidFill>
              </a:rPr>
              <a:t>  SMCOE and the San Mateo County Health Department use official </a:t>
            </a:r>
            <a:r>
              <a:rPr lang="en" sz="1400" u="sng">
                <a:solidFill>
                  <a:schemeClr val="hlink"/>
                </a:solidFill>
                <a:hlinkClick r:id="rId5"/>
              </a:rPr>
              <a:t>BAAQMD</a:t>
            </a:r>
            <a:r>
              <a:rPr lang="en" sz="1400">
                <a:solidFill>
                  <a:schemeClr val="dk1"/>
                </a:solidFill>
              </a:rPr>
              <a:t> and </a:t>
            </a:r>
            <a:r>
              <a:rPr lang="en" sz="1400" u="sng">
                <a:solidFill>
                  <a:schemeClr val="hlink"/>
                </a:solidFill>
                <a:hlinkClick r:id="rId6"/>
              </a:rPr>
              <a:t>AirNow</a:t>
            </a:r>
            <a:r>
              <a:rPr lang="en" sz="1400">
                <a:solidFill>
                  <a:schemeClr val="dk1"/>
                </a:solidFill>
              </a:rPr>
              <a:t> sites to track data and make decisions. </a:t>
            </a:r>
            <a:endParaRPr sz="1400">
              <a:solidFill>
                <a:schemeClr val="dk1"/>
              </a:solidFill>
            </a:endParaRPr>
          </a:p>
          <a:p>
            <a:pPr indent="-317500" lvl="0" marL="457200" rtl="0" algn="l">
              <a:spcBef>
                <a:spcPts val="0"/>
              </a:spcBef>
              <a:spcAft>
                <a:spcPts val="0"/>
              </a:spcAft>
              <a:buClr>
                <a:schemeClr val="dk1"/>
              </a:buClr>
              <a:buSzPts val="1400"/>
              <a:buAutoNum type="arabicPeriod"/>
            </a:pPr>
            <a:r>
              <a:rPr b="1" lang="en" sz="1400">
                <a:solidFill>
                  <a:schemeClr val="dk1"/>
                </a:solidFill>
              </a:rPr>
              <a:t>Adjust Activity Based on Air Quality </a:t>
            </a:r>
            <a:endParaRPr b="1" sz="1400">
              <a:solidFill>
                <a:schemeClr val="dk1"/>
              </a:solidFill>
            </a:endParaRPr>
          </a:p>
          <a:p>
            <a:pPr indent="-317500" lvl="1" marL="914400" rtl="0" algn="l">
              <a:spcBef>
                <a:spcPts val="0"/>
              </a:spcBef>
              <a:spcAft>
                <a:spcPts val="0"/>
              </a:spcAft>
              <a:buClr>
                <a:schemeClr val="dk1"/>
              </a:buClr>
              <a:buSzPts val="1400"/>
              <a:buAutoNum type="alphaLcPeriod"/>
            </a:pPr>
            <a:r>
              <a:rPr i="1" lang="en">
                <a:solidFill>
                  <a:schemeClr val="dk1"/>
                </a:solidFill>
              </a:rPr>
              <a:t>School Air Quality Activity Recommendations </a:t>
            </a:r>
            <a:r>
              <a:rPr lang="en">
                <a:solidFill>
                  <a:schemeClr val="dk1"/>
                </a:solidFill>
              </a:rPr>
              <a:t>(see Slide 24): how PVSD addresses differing levels of air quality. </a:t>
            </a:r>
            <a:endParaRPr>
              <a:solidFill>
                <a:schemeClr val="dk1"/>
              </a:solidFill>
            </a:endParaRPr>
          </a:p>
          <a:p>
            <a:pPr indent="-317500" lvl="1" marL="914400" rtl="0" algn="l">
              <a:spcBef>
                <a:spcPts val="0"/>
              </a:spcBef>
              <a:spcAft>
                <a:spcPts val="0"/>
              </a:spcAft>
              <a:buClr>
                <a:schemeClr val="dk1"/>
              </a:buClr>
              <a:buSzPts val="1400"/>
              <a:buAutoNum type="alphaLcPeriod"/>
            </a:pPr>
            <a:r>
              <a:rPr i="1" lang="en">
                <a:solidFill>
                  <a:schemeClr val="dk1"/>
                </a:solidFill>
              </a:rPr>
              <a:t>Sensitive Groups</a:t>
            </a:r>
            <a:r>
              <a:rPr lang="en">
                <a:solidFill>
                  <a:schemeClr val="dk1"/>
                </a:solidFill>
              </a:rPr>
              <a:t>: Children with certain medical conditions may be impacted by air quality in the moderate (yellow – 51-100) and unhealthy for sensitive groups (orange – 101-150) levels. Parents/guardians of these children should notify their schools. </a:t>
            </a:r>
            <a:endParaRPr>
              <a:solidFill>
                <a:schemeClr val="dk1"/>
              </a:solidFill>
            </a:endParaRPr>
          </a:p>
          <a:p>
            <a:pPr indent="-317500" lvl="0" marL="457200" rtl="0" algn="l">
              <a:spcBef>
                <a:spcPts val="0"/>
              </a:spcBef>
              <a:spcAft>
                <a:spcPts val="0"/>
              </a:spcAft>
              <a:buClr>
                <a:schemeClr val="dk1"/>
              </a:buClr>
              <a:buSzPts val="1400"/>
              <a:buAutoNum type="arabicPeriod"/>
            </a:pPr>
            <a:r>
              <a:rPr b="1" lang="en" sz="1400">
                <a:solidFill>
                  <a:schemeClr val="dk1"/>
                </a:solidFill>
              </a:rPr>
              <a:t>School Response</a:t>
            </a:r>
            <a:r>
              <a:rPr lang="en" sz="1400">
                <a:solidFill>
                  <a:schemeClr val="dk1"/>
                </a:solidFill>
              </a:rPr>
              <a:t>: When air quality dips to unhealthy levels (red – 151-200), PVSD practices the Big Five Shelter in Place protocol (keeping all activities indoors, limiting physical activity, and minimizing the opening and closing of doors), and continue regular classroom instruction. </a:t>
            </a:r>
            <a:endParaRPr sz="1400">
              <a:solidFill>
                <a:schemeClr val="dk1"/>
              </a:solidFill>
            </a:endParaRPr>
          </a:p>
          <a:p>
            <a:pPr indent="-317500" lvl="1" marL="914400" rtl="0" algn="l">
              <a:spcBef>
                <a:spcPts val="0"/>
              </a:spcBef>
              <a:spcAft>
                <a:spcPts val="0"/>
              </a:spcAft>
              <a:buClr>
                <a:schemeClr val="dk1"/>
              </a:buClr>
              <a:buSzPts val="1400"/>
              <a:buAutoNum type="alphaLcPeriod"/>
            </a:pPr>
            <a:r>
              <a:rPr lang="en">
                <a:solidFill>
                  <a:schemeClr val="dk1"/>
                </a:solidFill>
              </a:rPr>
              <a:t>Schools are the best place for students to be when air quality is poor as they are well supervised, can be kept indoors, and are able to continue to learn. </a:t>
            </a:r>
            <a:endParaRPr>
              <a:solidFill>
                <a:schemeClr val="dk1"/>
              </a:solidFill>
            </a:endParaRPr>
          </a:p>
          <a:p>
            <a:pPr indent="-317500" lvl="1" marL="914400" rtl="0" algn="l">
              <a:spcBef>
                <a:spcPts val="0"/>
              </a:spcBef>
              <a:spcAft>
                <a:spcPts val="0"/>
              </a:spcAft>
              <a:buClr>
                <a:schemeClr val="dk1"/>
              </a:buClr>
              <a:buSzPts val="1400"/>
              <a:buAutoNum type="alphaLcPeriod"/>
            </a:pPr>
            <a:r>
              <a:rPr lang="en">
                <a:solidFill>
                  <a:schemeClr val="dk1"/>
                </a:solidFill>
              </a:rPr>
              <a:t>If air quality becomes hazardous (maroon – 301-500) and schools do not have the ability to keep outdoor air from easily entering the school,then a school may decide to close. </a:t>
            </a:r>
            <a:endParaRPr>
              <a:solidFill>
                <a:schemeClr val="dk1"/>
              </a:solidFill>
            </a:endParaRPr>
          </a:p>
        </p:txBody>
      </p:sp>
      <p:sp>
        <p:nvSpPr>
          <p:cNvPr id="246" name="Google Shape;246;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2" name="Google Shape;252;p38"/>
          <p:cNvPicPr preferRelativeResize="0"/>
          <p:nvPr/>
        </p:nvPicPr>
        <p:blipFill>
          <a:blip r:embed="rId3">
            <a:alphaModFix/>
          </a:blip>
          <a:stretch>
            <a:fillRect/>
          </a:stretch>
        </p:blipFill>
        <p:spPr>
          <a:xfrm>
            <a:off x="1201570" y="0"/>
            <a:ext cx="6740859" cy="51434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9"/>
          <p:cNvSpPr txBox="1"/>
          <p:nvPr>
            <p:ph type="title"/>
          </p:nvPr>
        </p:nvSpPr>
        <p:spPr>
          <a:xfrm>
            <a:off x="3019425" y="1662150"/>
            <a:ext cx="3105300" cy="1819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Discussion</a:t>
            </a:r>
            <a:endParaRPr/>
          </a:p>
          <a:p>
            <a:pPr indent="0" lvl="0" marL="0" rtl="0" algn="ctr">
              <a:spcBef>
                <a:spcPts val="0"/>
              </a:spcBef>
              <a:spcAft>
                <a:spcPts val="0"/>
              </a:spcAft>
              <a:buNone/>
            </a:pPr>
            <a:r>
              <a:t/>
            </a:r>
            <a:endParaRPr/>
          </a:p>
        </p:txBody>
      </p:sp>
      <p:sp>
        <p:nvSpPr>
          <p:cNvPr id="258" name="Google Shape;258;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